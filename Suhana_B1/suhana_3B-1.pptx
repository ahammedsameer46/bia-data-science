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tableStyles" Target="tableStyle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72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77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7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7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9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7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 0"/>
          <p:cNvSpPr/>
          <p:nvPr/>
        </p:nvSpPr>
        <p:spPr>
          <a:xfrm>
            <a:off x="457200" y="320040"/>
            <a:ext cx="11274552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AI-Enabled Smart Water Monitoring</a:t>
            </a:r>
            <a:endParaRPr dirty="0" sz="3200" lang="en-US"/>
          </a:p>
        </p:txBody>
      </p:sp>
      <p:sp>
        <p:nvSpPr>
          <p:cNvPr id="1048577" name="Text 1"/>
          <p:cNvSpPr/>
          <p:nvPr/>
        </p:nvSpPr>
        <p:spPr>
          <a:xfrm>
            <a:off x="457200" y="868680"/>
            <a:ext cx="11274552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5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AI capability extending SCSMS (Assignment 3A) — Rooftop/Terrace Water Tank, Rajagiri Campus</a:t>
            </a:r>
            <a:endParaRPr dirty="0" sz="1350" lang="en-US"/>
          </a:p>
        </p:txBody>
      </p:sp>
      <p:sp>
        <p:nvSpPr>
          <p:cNvPr id="1048578" name="Shape 2"/>
          <p:cNvSpPr/>
          <p:nvPr/>
        </p:nvSpPr>
        <p:spPr>
          <a:xfrm>
            <a:off x="9006840" y="365760"/>
            <a:ext cx="2724912" cy="365760"/>
          </a:xfrm>
          <a:prstGeom prst="roundRect">
            <a:avLst>
              <a:gd name="adj" fmla="val 20000"/>
            </a:avLst>
          </a:prstGeom>
          <a:solidFill>
            <a:srgbClr val="02C39A"/>
          </a:solidFill>
        </p:spPr>
      </p:sp>
      <p:sp>
        <p:nvSpPr>
          <p:cNvPr id="1048579" name="Text 3"/>
          <p:cNvSpPr/>
          <p:nvPr/>
        </p:nvSpPr>
        <p:spPr>
          <a:xfrm>
            <a:off x="9006840" y="365760"/>
            <a:ext cx="2724912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— NOT YET DEPLOYED</a:t>
            </a:r>
            <a:endParaRPr dirty="0" sz="1050" lang="en-US"/>
          </a:p>
        </p:txBody>
      </p:sp>
      <p:sp>
        <p:nvSpPr>
          <p:cNvPr id="1048580" name="Shape 4"/>
          <p:cNvSpPr/>
          <p:nvPr/>
        </p:nvSpPr>
        <p:spPr>
          <a:xfrm>
            <a:off x="457200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3F7F5"/>
          </a:solidFill>
        </p:spPr>
      </p:sp>
      <p:sp>
        <p:nvSpPr>
          <p:cNvPr id="1048581" name="Shape 5"/>
          <p:cNvSpPr/>
          <p:nvPr/>
        </p:nvSpPr>
        <p:spPr>
          <a:xfrm>
            <a:off x="731520" y="1691640"/>
            <a:ext cx="457200" cy="457200"/>
          </a:xfrm>
          <a:prstGeom prst="ellipse"/>
          <a:solidFill>
            <a:srgbClr val="1C7293"/>
          </a:solidFill>
        </p:spPr>
      </p:sp>
      <p:sp>
        <p:nvSpPr>
          <p:cNvPr id="1048582" name="Text 6"/>
          <p:cNvSpPr/>
          <p:nvPr/>
        </p:nvSpPr>
        <p:spPr>
          <a:xfrm>
            <a:off x="731520" y="169164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</a:t>
            </a:r>
            <a:endParaRPr dirty="0" sz="1400" lang="en-US"/>
          </a:p>
        </p:txBody>
      </p:sp>
      <p:sp>
        <p:nvSpPr>
          <p:cNvPr id="1048583" name="Text 7"/>
          <p:cNvSpPr/>
          <p:nvPr/>
        </p:nvSpPr>
        <p:spPr>
          <a:xfrm>
            <a:off x="1325880" y="1691640"/>
            <a:ext cx="425196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(Assignment 1A)</a:t>
            </a:r>
            <a:endParaRPr dirty="0" sz="1700" lang="en-US"/>
          </a:p>
        </p:txBody>
      </p:sp>
      <p:sp>
        <p:nvSpPr>
          <p:cNvPr id="1048584" name="Text 8"/>
          <p:cNvSpPr/>
          <p:nvPr/>
        </p:nvSpPr>
        <p:spPr>
          <a:xfrm>
            <a:off x="731520" y="2286000"/>
            <a:ext cx="4800600" cy="3520440"/>
          </a:xfrm>
          <a:prstGeom prst="rect"/>
          <a:noFill/>
        </p:spPr>
        <p:txBody>
          <a:bodyPr anchor="t" bIns="0" lIns="0" rIns="0" rtlCol="0" tIns="0" wrap="square"/>
          <a:p>
            <a:pPr indent="-342900" marL="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dirty="0" sz="13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Rooftop/terrace water tank near the bamboo grove shows dark, algae-covered water with leaf debris on the surface netting — no visible circulation or flow.</a:t>
            </a:r>
            <a:endParaRPr dirty="0" sz="1350" lang="en-US"/>
          </a:p>
          <a:p>
            <a:pPr indent="-342900" marL="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dirty="0" sz="13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rated Medium in the audit; standing water is a plausible mosquito-breeding risk (inferred, not confirmed in photo).</a:t>
            </a:r>
            <a:endParaRPr dirty="0" sz="1350" lang="en-US"/>
          </a:p>
          <a:p>
            <a:pPr indent="-342900" marL="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dirty="0" sz="13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managed by periodic visual inspection only — no continuous sensing of the tank (confirmed gap in Assignment 3A).</a:t>
            </a:r>
            <a:endParaRPr dirty="0" sz="1350" lang="en-US"/>
          </a:p>
          <a:p>
            <a:pPr indent="-342900" marL="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dirty="0" sz="13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SCSMS (3A) already proposes water sensors and fixed threshold rules for turbidity/DO/level — but no live sensors or AI model exist yet.</a:t>
            </a:r>
            <a:endParaRPr dirty="0" sz="1350" lang="en-US"/>
          </a:p>
        </p:txBody>
      </p:sp>
      <p:sp>
        <p:nvSpPr>
          <p:cNvPr id="1048585" name="Shape 9"/>
          <p:cNvSpPr/>
          <p:nvPr/>
        </p:nvSpPr>
        <p:spPr>
          <a:xfrm>
            <a:off x="6035040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3F7F5"/>
          </a:solidFill>
        </p:spPr>
      </p:sp>
      <p:sp>
        <p:nvSpPr>
          <p:cNvPr id="1048586" name="Shape 10"/>
          <p:cNvSpPr/>
          <p:nvPr/>
        </p:nvSpPr>
        <p:spPr>
          <a:xfrm>
            <a:off x="6309360" y="1691640"/>
            <a:ext cx="457200" cy="457200"/>
          </a:xfrm>
          <a:prstGeom prst="ellipse"/>
          <a:solidFill>
            <a:srgbClr val="1B4332"/>
          </a:solidFill>
        </p:spPr>
      </p:sp>
      <p:sp>
        <p:nvSpPr>
          <p:cNvPr id="1048587" name="Text 11"/>
          <p:cNvSpPr/>
          <p:nvPr/>
        </p:nvSpPr>
        <p:spPr>
          <a:xfrm>
            <a:off x="6309360" y="169164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dirty="0" sz="1400" lang="en-US"/>
          </a:p>
        </p:txBody>
      </p:sp>
      <p:sp>
        <p:nvSpPr>
          <p:cNvPr id="1048588" name="Text 12"/>
          <p:cNvSpPr/>
          <p:nvPr/>
        </p:nvSpPr>
        <p:spPr>
          <a:xfrm>
            <a:off x="6903720" y="1691640"/>
            <a:ext cx="425196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Is Introduced</a:t>
            </a:r>
            <a:endParaRPr dirty="0" sz="1700" lang="en-US"/>
          </a:p>
        </p:txBody>
      </p:sp>
      <p:sp>
        <p:nvSpPr>
          <p:cNvPr id="1048589" name="Text 13"/>
          <p:cNvSpPr/>
          <p:nvPr/>
        </p:nvSpPr>
        <p:spPr>
          <a:xfrm>
            <a:off x="6309360" y="2286000"/>
            <a:ext cx="4800600" cy="3520440"/>
          </a:xfrm>
          <a:prstGeom prst="rect"/>
          <a:noFill/>
        </p:spPr>
        <p:txBody>
          <a:bodyPr anchor="t" bIns="0" lIns="0" rIns="0" rtlCol="0" tIns="0" wrap="square"/>
          <a:p>
            <a:pPr indent="-342900" marL="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dirty="0" sz="13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added inside SCSMS's existing Cloud Core “Rules + ML” analytics layer — upgrading the fixed-threshold stagnation alert into a learned anomaly-detection model.</a:t>
            </a:r>
            <a:endParaRPr dirty="0" sz="1350" lang="en-US"/>
          </a:p>
          <a:p>
            <a:pPr indent="-342900" marL="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dirty="0" sz="13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thresholds only catch single readings crossing a set line; they miss slow, combined drifts across turbidity, DO and temperature together.</a:t>
            </a:r>
            <a:endParaRPr dirty="0" sz="1350" lang="en-US"/>
          </a:p>
          <a:p>
            <a:pPr indent="-342900" marL="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dirty="0" sz="13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anomaly-detection model learns the tank's normal daily/seasonal pattern and flags unusual combinations earlier, with fewer missed or false alerts.</a:t>
            </a:r>
            <a:endParaRPr dirty="0" sz="1350" lang="en-US"/>
          </a:p>
          <a:p>
            <a:pPr indent="-342900" marL="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dirty="0" sz="13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closes the 3A-identified gap: “no quantitative thresholds or early-warning alerts for stagnation.”</a:t>
            </a:r>
            <a:endParaRPr dirty="0" sz="1350" lang="en-US"/>
          </a:p>
        </p:txBody>
      </p:sp>
      <p:sp>
        <p:nvSpPr>
          <p:cNvPr id="1048590" name="Text 14"/>
          <p:cNvSpPr/>
          <p:nvPr/>
        </p:nvSpPr>
        <p:spPr>
          <a:xfrm>
            <a:off x="457200" y="6528816"/>
            <a:ext cx="11274552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50" i="1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4  —  AI Use Case  —  Source: Assignment 1A (Campus Audit) &amp; Assignment 3A (SCSMS Design)</a:t>
            </a:r>
            <a:endParaRPr dirty="0" sz="95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ext 0"/>
          <p:cNvSpPr/>
          <p:nvPr/>
        </p:nvSpPr>
        <p:spPr>
          <a:xfrm>
            <a:off x="457200" y="320040"/>
            <a:ext cx="11274552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Input &amp; Output</a:t>
            </a:r>
            <a:endParaRPr dirty="0" sz="3200" lang="en-US"/>
          </a:p>
        </p:txBody>
      </p:sp>
      <p:sp>
        <p:nvSpPr>
          <p:cNvPr id="1048595" name="Text 1"/>
          <p:cNvSpPr/>
          <p:nvPr/>
        </p:nvSpPr>
        <p:spPr>
          <a:xfrm>
            <a:off x="457200" y="868680"/>
            <a:ext cx="11274552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5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reads from the tank, and what it produces</a:t>
            </a:r>
            <a:endParaRPr dirty="0" sz="1350" lang="en-US"/>
          </a:p>
        </p:txBody>
      </p:sp>
      <p:sp>
        <p:nvSpPr>
          <p:cNvPr id="1048596" name="Text 2"/>
          <p:cNvSpPr/>
          <p:nvPr/>
        </p:nvSpPr>
        <p:spPr>
          <a:xfrm>
            <a:off x="457200" y="1371600"/>
            <a:ext cx="420624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— Raw Sensor Data</a:t>
            </a:r>
            <a:endParaRPr dirty="0" sz="1500" lang="en-US"/>
          </a:p>
        </p:txBody>
      </p:sp>
      <p:sp>
        <p:nvSpPr>
          <p:cNvPr id="1048597" name="Shape 3"/>
          <p:cNvSpPr/>
          <p:nvPr/>
        </p:nvSpPr>
        <p:spPr>
          <a:xfrm>
            <a:off x="457200" y="1783080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3F7F5"/>
          </a:solidFill>
        </p:spPr>
      </p:sp>
      <p:sp>
        <p:nvSpPr>
          <p:cNvPr id="1048598" name="Shape 4"/>
          <p:cNvSpPr/>
          <p:nvPr/>
        </p:nvSpPr>
        <p:spPr>
          <a:xfrm>
            <a:off x="603504" y="1929384"/>
            <a:ext cx="365760" cy="365760"/>
          </a:xfrm>
          <a:prstGeom prst="ellipse"/>
          <a:solidFill>
            <a:srgbClr val="1C7293"/>
          </a:solidFill>
        </p:spPr>
      </p:sp>
      <p:sp>
        <p:nvSpPr>
          <p:cNvPr id="1048599" name="Text 5"/>
          <p:cNvSpPr/>
          <p:nvPr/>
        </p:nvSpPr>
        <p:spPr>
          <a:xfrm>
            <a:off x="603504" y="1929384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H₂O</a:t>
            </a:r>
            <a:endParaRPr dirty="0" sz="800" lang="en-US"/>
          </a:p>
        </p:txBody>
      </p:sp>
      <p:sp>
        <p:nvSpPr>
          <p:cNvPr id="1048600" name="Text 6"/>
          <p:cNvSpPr/>
          <p:nvPr/>
        </p:nvSpPr>
        <p:spPr>
          <a:xfrm>
            <a:off x="1097280" y="1837944"/>
            <a:ext cx="3474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5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Turbidity</a:t>
            </a:r>
            <a:endParaRPr dirty="0" sz="1350" lang="en-US"/>
          </a:p>
        </p:txBody>
      </p:sp>
      <p:sp>
        <p:nvSpPr>
          <p:cNvPr id="1048601" name="Text 7"/>
          <p:cNvSpPr/>
          <p:nvPr/>
        </p:nvSpPr>
        <p:spPr>
          <a:xfrm>
            <a:off x="1097280" y="2112264"/>
            <a:ext cx="347472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clarity / murkiness</a:t>
            </a:r>
            <a:endParaRPr dirty="0" sz="1050" lang="en-US"/>
          </a:p>
        </p:txBody>
      </p:sp>
      <p:sp>
        <p:nvSpPr>
          <p:cNvPr id="1048602" name="Shape 8"/>
          <p:cNvSpPr/>
          <p:nvPr/>
        </p:nvSpPr>
        <p:spPr>
          <a:xfrm>
            <a:off x="457200" y="2560320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3F7F5"/>
          </a:solidFill>
        </p:spPr>
      </p:sp>
      <p:sp>
        <p:nvSpPr>
          <p:cNvPr id="1048603" name="Shape 9"/>
          <p:cNvSpPr/>
          <p:nvPr/>
        </p:nvSpPr>
        <p:spPr>
          <a:xfrm>
            <a:off x="603504" y="2706624"/>
            <a:ext cx="365760" cy="365760"/>
          </a:xfrm>
          <a:prstGeom prst="ellipse"/>
          <a:solidFill>
            <a:srgbClr val="1C7293"/>
          </a:solidFill>
        </p:spPr>
      </p:sp>
      <p:sp>
        <p:nvSpPr>
          <p:cNvPr id="1048604" name="Text 10"/>
          <p:cNvSpPr/>
          <p:nvPr/>
        </p:nvSpPr>
        <p:spPr>
          <a:xfrm>
            <a:off x="603504" y="2706624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H₂O</a:t>
            </a:r>
            <a:endParaRPr dirty="0" sz="800" lang="en-US"/>
          </a:p>
        </p:txBody>
      </p:sp>
      <p:sp>
        <p:nvSpPr>
          <p:cNvPr id="1048605" name="Text 11"/>
          <p:cNvSpPr/>
          <p:nvPr/>
        </p:nvSpPr>
        <p:spPr>
          <a:xfrm>
            <a:off x="1097280" y="2615184"/>
            <a:ext cx="3474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5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dirty="0" sz="1350" lang="en-US"/>
          </a:p>
        </p:txBody>
      </p:sp>
      <p:sp>
        <p:nvSpPr>
          <p:cNvPr id="1048606" name="Text 12"/>
          <p:cNvSpPr/>
          <p:nvPr/>
        </p:nvSpPr>
        <p:spPr>
          <a:xfrm>
            <a:off x="1097280" y="2889504"/>
            <a:ext cx="347472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Acidity / alkalinity</a:t>
            </a:r>
            <a:endParaRPr dirty="0" sz="1050" lang="en-US"/>
          </a:p>
        </p:txBody>
      </p:sp>
      <p:sp>
        <p:nvSpPr>
          <p:cNvPr id="1048607" name="Shape 13"/>
          <p:cNvSpPr/>
          <p:nvPr/>
        </p:nvSpPr>
        <p:spPr>
          <a:xfrm>
            <a:off x="457200" y="3337560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3F7F5"/>
          </a:solidFill>
        </p:spPr>
      </p:sp>
      <p:sp>
        <p:nvSpPr>
          <p:cNvPr id="1048608" name="Shape 14"/>
          <p:cNvSpPr/>
          <p:nvPr/>
        </p:nvSpPr>
        <p:spPr>
          <a:xfrm>
            <a:off x="603504" y="3483864"/>
            <a:ext cx="365760" cy="365760"/>
          </a:xfrm>
          <a:prstGeom prst="ellipse"/>
          <a:solidFill>
            <a:srgbClr val="1C7293"/>
          </a:solidFill>
        </p:spPr>
      </p:sp>
      <p:sp>
        <p:nvSpPr>
          <p:cNvPr id="1048609" name="Text 15"/>
          <p:cNvSpPr/>
          <p:nvPr/>
        </p:nvSpPr>
        <p:spPr>
          <a:xfrm>
            <a:off x="603504" y="3483864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H₂O</a:t>
            </a:r>
            <a:endParaRPr dirty="0" sz="800" lang="en-US"/>
          </a:p>
        </p:txBody>
      </p:sp>
      <p:sp>
        <p:nvSpPr>
          <p:cNvPr id="1048610" name="Text 16"/>
          <p:cNvSpPr/>
          <p:nvPr/>
        </p:nvSpPr>
        <p:spPr>
          <a:xfrm>
            <a:off x="1097280" y="3392424"/>
            <a:ext cx="3474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5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O₂</a:t>
            </a:r>
            <a:endParaRPr dirty="0" sz="1350" lang="en-US"/>
          </a:p>
        </p:txBody>
      </p:sp>
      <p:sp>
        <p:nvSpPr>
          <p:cNvPr id="1048611" name="Text 17"/>
          <p:cNvSpPr/>
          <p:nvPr/>
        </p:nvSpPr>
        <p:spPr>
          <a:xfrm>
            <a:off x="1097280" y="3666744"/>
            <a:ext cx="347472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available in water</a:t>
            </a:r>
            <a:endParaRPr dirty="0" sz="1050" lang="en-US"/>
          </a:p>
        </p:txBody>
      </p:sp>
      <p:sp>
        <p:nvSpPr>
          <p:cNvPr id="1048612" name="Shape 18"/>
          <p:cNvSpPr/>
          <p:nvPr/>
        </p:nvSpPr>
        <p:spPr>
          <a:xfrm>
            <a:off x="457200" y="4114800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3F7F5"/>
          </a:solidFill>
        </p:spPr>
      </p:sp>
      <p:sp>
        <p:nvSpPr>
          <p:cNvPr id="1048613" name="Shape 19"/>
          <p:cNvSpPr/>
          <p:nvPr/>
        </p:nvSpPr>
        <p:spPr>
          <a:xfrm>
            <a:off x="603504" y="4261104"/>
            <a:ext cx="365760" cy="365760"/>
          </a:xfrm>
          <a:prstGeom prst="ellipse"/>
          <a:solidFill>
            <a:srgbClr val="1C7293"/>
          </a:solidFill>
        </p:spPr>
      </p:sp>
      <p:sp>
        <p:nvSpPr>
          <p:cNvPr id="1048614" name="Text 20"/>
          <p:cNvSpPr/>
          <p:nvPr/>
        </p:nvSpPr>
        <p:spPr>
          <a:xfrm>
            <a:off x="603504" y="4261104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H₂O</a:t>
            </a:r>
            <a:endParaRPr dirty="0" sz="800" lang="en-US"/>
          </a:p>
        </p:txBody>
      </p:sp>
      <p:sp>
        <p:nvSpPr>
          <p:cNvPr id="1048615" name="Text 21"/>
          <p:cNvSpPr/>
          <p:nvPr/>
        </p:nvSpPr>
        <p:spPr>
          <a:xfrm>
            <a:off x="1097280" y="4169664"/>
            <a:ext cx="3474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5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dirty="0" sz="1350" lang="en-US"/>
          </a:p>
        </p:txBody>
      </p:sp>
      <p:sp>
        <p:nvSpPr>
          <p:cNvPr id="1048616" name="Text 22"/>
          <p:cNvSpPr/>
          <p:nvPr/>
        </p:nvSpPr>
        <p:spPr>
          <a:xfrm>
            <a:off x="1097280" y="4443984"/>
            <a:ext cx="347472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temperature</a:t>
            </a:r>
            <a:endParaRPr dirty="0" sz="1050" lang="en-US"/>
          </a:p>
        </p:txBody>
      </p:sp>
      <p:sp>
        <p:nvSpPr>
          <p:cNvPr id="1048617" name="Shape 23"/>
          <p:cNvSpPr/>
          <p:nvPr/>
        </p:nvSpPr>
        <p:spPr>
          <a:xfrm>
            <a:off x="457200" y="4892040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3F7F5"/>
          </a:solidFill>
        </p:spPr>
      </p:sp>
      <p:sp>
        <p:nvSpPr>
          <p:cNvPr id="1048618" name="Shape 24"/>
          <p:cNvSpPr/>
          <p:nvPr/>
        </p:nvSpPr>
        <p:spPr>
          <a:xfrm>
            <a:off x="603504" y="5038344"/>
            <a:ext cx="365760" cy="365760"/>
          </a:xfrm>
          <a:prstGeom prst="ellipse"/>
          <a:solidFill>
            <a:srgbClr val="1C7293"/>
          </a:solidFill>
        </p:spPr>
      </p:sp>
      <p:sp>
        <p:nvSpPr>
          <p:cNvPr id="1048619" name="Text 25"/>
          <p:cNvSpPr/>
          <p:nvPr/>
        </p:nvSpPr>
        <p:spPr>
          <a:xfrm>
            <a:off x="603504" y="5038344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H₂O</a:t>
            </a:r>
            <a:endParaRPr dirty="0" sz="800" lang="en-US"/>
          </a:p>
        </p:txBody>
      </p:sp>
      <p:sp>
        <p:nvSpPr>
          <p:cNvPr id="1048620" name="Text 26"/>
          <p:cNvSpPr/>
          <p:nvPr/>
        </p:nvSpPr>
        <p:spPr>
          <a:xfrm>
            <a:off x="1097280" y="4946904"/>
            <a:ext cx="3474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5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</a:t>
            </a:r>
            <a:endParaRPr dirty="0" sz="1350" lang="en-US"/>
          </a:p>
        </p:txBody>
      </p:sp>
      <p:sp>
        <p:nvSpPr>
          <p:cNvPr id="1048621" name="Text 27"/>
          <p:cNvSpPr/>
          <p:nvPr/>
        </p:nvSpPr>
        <p:spPr>
          <a:xfrm>
            <a:off x="1097280" y="5221224"/>
            <a:ext cx="347472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/ flow presence</a:t>
            </a:r>
            <a:endParaRPr dirty="0" sz="1050" lang="en-US"/>
          </a:p>
        </p:txBody>
      </p:sp>
      <p:sp>
        <p:nvSpPr>
          <p:cNvPr id="1048622" name="Text 28"/>
          <p:cNvSpPr/>
          <p:nvPr/>
        </p:nvSpPr>
        <p:spPr>
          <a:xfrm>
            <a:off x="457200" y="5715000"/>
            <a:ext cx="420624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i="1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as time-series readings from ESP32-based water sensors (SCSMS edge layer).</a:t>
            </a:r>
            <a:endParaRPr dirty="0" sz="1050" lang="en-US"/>
          </a:p>
        </p:txBody>
      </p:sp>
      <p:sp>
        <p:nvSpPr>
          <p:cNvPr id="1048623" name="Text 29"/>
          <p:cNvSpPr/>
          <p:nvPr/>
        </p:nvSpPr>
        <p:spPr>
          <a:xfrm>
            <a:off x="5074920" y="1371600"/>
            <a:ext cx="233172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PIPELINE</a:t>
            </a:r>
            <a:endParaRPr dirty="0" sz="1500" lang="en-US"/>
          </a:p>
        </p:txBody>
      </p:sp>
      <p:sp>
        <p:nvSpPr>
          <p:cNvPr id="1048624" name="Shape 30"/>
          <p:cNvSpPr/>
          <p:nvPr/>
        </p:nvSpPr>
        <p:spPr>
          <a:xfrm>
            <a:off x="5074920" y="1874520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F3F7F5"/>
          </a:solidFill>
        </p:spPr>
      </p:sp>
      <p:sp>
        <p:nvSpPr>
          <p:cNvPr id="1048625" name="Text 31"/>
          <p:cNvSpPr/>
          <p:nvPr/>
        </p:nvSpPr>
        <p:spPr>
          <a:xfrm>
            <a:off x="5166360" y="1874520"/>
            <a:ext cx="2148840" cy="7772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</a:t>
            </a:r>
            <a:endParaRPr dirty="0" sz="1200" lang="en-US"/>
          </a:p>
        </p:txBody>
      </p:sp>
      <p:sp>
        <p:nvSpPr>
          <p:cNvPr id="1048626" name="Shape 32"/>
          <p:cNvSpPr/>
          <p:nvPr/>
        </p:nvSpPr>
        <p:spPr>
          <a:xfrm>
            <a:off x="6158484" y="2670048"/>
            <a:ext cx="164592" cy="219456"/>
          </a:xfrm>
          <a:prstGeom prst="downArrow"/>
          <a:solidFill>
            <a:srgbClr val="5B6B65"/>
          </a:solidFill>
        </p:spPr>
      </p:sp>
      <p:sp>
        <p:nvSpPr>
          <p:cNvPr id="1048627" name="Shape 33"/>
          <p:cNvSpPr/>
          <p:nvPr/>
        </p:nvSpPr>
        <p:spPr>
          <a:xfrm>
            <a:off x="5074920" y="2907792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F3F7F5"/>
          </a:solidFill>
        </p:spPr>
      </p:sp>
      <p:sp>
        <p:nvSpPr>
          <p:cNvPr id="1048628" name="Text 34"/>
          <p:cNvSpPr/>
          <p:nvPr/>
        </p:nvSpPr>
        <p:spPr>
          <a:xfrm>
            <a:off x="5166360" y="2907792"/>
            <a:ext cx="2148840" cy="7772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/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dirty="0" sz="1200" lang="en-US"/>
          </a:p>
        </p:txBody>
      </p:sp>
      <p:sp>
        <p:nvSpPr>
          <p:cNvPr id="1048629" name="Shape 35"/>
          <p:cNvSpPr/>
          <p:nvPr/>
        </p:nvSpPr>
        <p:spPr>
          <a:xfrm>
            <a:off x="6158484" y="3703320"/>
            <a:ext cx="164592" cy="219456"/>
          </a:xfrm>
          <a:prstGeom prst="downArrow"/>
          <a:solidFill>
            <a:srgbClr val="5B6B65"/>
          </a:solidFill>
        </p:spPr>
      </p:sp>
      <p:sp>
        <p:nvSpPr>
          <p:cNvPr id="1048630" name="Shape 36"/>
          <p:cNvSpPr/>
          <p:nvPr/>
        </p:nvSpPr>
        <p:spPr>
          <a:xfrm>
            <a:off x="5074920" y="3941064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F3F7F5"/>
          </a:solidFill>
        </p:spPr>
      </p:sp>
      <p:sp>
        <p:nvSpPr>
          <p:cNvPr id="1048631" name="Text 37"/>
          <p:cNvSpPr/>
          <p:nvPr/>
        </p:nvSpPr>
        <p:spPr>
          <a:xfrm>
            <a:off x="5166360" y="3941064"/>
            <a:ext cx="2148840" cy="7772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dirty="0" sz="1200" lang="en-US"/>
          </a:p>
        </p:txBody>
      </p:sp>
      <p:sp>
        <p:nvSpPr>
          <p:cNvPr id="1048632" name="Shape 38"/>
          <p:cNvSpPr/>
          <p:nvPr/>
        </p:nvSpPr>
        <p:spPr>
          <a:xfrm>
            <a:off x="6158484" y="4736592"/>
            <a:ext cx="164592" cy="219456"/>
          </a:xfrm>
          <a:prstGeom prst="downArrow"/>
          <a:solidFill>
            <a:srgbClr val="5B6B65"/>
          </a:solidFill>
        </p:spPr>
      </p:sp>
      <p:sp>
        <p:nvSpPr>
          <p:cNvPr id="1048633" name="Shape 39"/>
          <p:cNvSpPr/>
          <p:nvPr/>
        </p:nvSpPr>
        <p:spPr>
          <a:xfrm>
            <a:off x="5074920" y="4974336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1B4332"/>
          </a:solidFill>
        </p:spPr>
      </p:sp>
      <p:sp>
        <p:nvSpPr>
          <p:cNvPr id="1048634" name="Text 40"/>
          <p:cNvSpPr/>
          <p:nvPr/>
        </p:nvSpPr>
        <p:spPr>
          <a:xfrm>
            <a:off x="5166360" y="4974336"/>
            <a:ext cx="2148840" cy="7772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dirty="0" sz="1200" lang="en-US"/>
          </a:p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(Anomaly Detection)</a:t>
            </a:r>
            <a:endParaRPr dirty="0" sz="1200" lang="en-US"/>
          </a:p>
        </p:txBody>
      </p:sp>
      <p:sp>
        <p:nvSpPr>
          <p:cNvPr id="1048635" name="Text 41"/>
          <p:cNvSpPr/>
          <p:nvPr/>
        </p:nvSpPr>
        <p:spPr>
          <a:xfrm>
            <a:off x="7863840" y="1371600"/>
            <a:ext cx="3867912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— AI-Generated Result</a:t>
            </a:r>
            <a:endParaRPr dirty="0" sz="1500" lang="en-US"/>
          </a:p>
        </p:txBody>
      </p:sp>
      <p:sp>
        <p:nvSpPr>
          <p:cNvPr id="1048636" name="Shape 42"/>
          <p:cNvSpPr/>
          <p:nvPr/>
        </p:nvSpPr>
        <p:spPr>
          <a:xfrm>
            <a:off x="7863840" y="1783080"/>
            <a:ext cx="3867912" cy="713232"/>
          </a:xfrm>
          <a:prstGeom prst="roundRect">
            <a:avLst>
              <a:gd name="adj" fmla="val 7692"/>
            </a:avLst>
          </a:prstGeom>
          <a:solidFill>
            <a:srgbClr val="F3F7F5"/>
          </a:solidFill>
        </p:spPr>
      </p:sp>
      <p:sp>
        <p:nvSpPr>
          <p:cNvPr id="1048637" name="Shape 43"/>
          <p:cNvSpPr/>
          <p:nvPr/>
        </p:nvSpPr>
        <p:spPr>
          <a:xfrm>
            <a:off x="7991856" y="1911096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02C39A"/>
          </a:solidFill>
        </p:spPr>
      </p:sp>
      <p:sp>
        <p:nvSpPr>
          <p:cNvPr id="1048638" name="Text 44"/>
          <p:cNvSpPr/>
          <p:nvPr/>
        </p:nvSpPr>
        <p:spPr>
          <a:xfrm>
            <a:off x="8229600" y="1856232"/>
            <a:ext cx="3364992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Condition</a:t>
            </a:r>
            <a:endParaRPr dirty="0" sz="1300" lang="en-US"/>
          </a:p>
        </p:txBody>
      </p:sp>
      <p:sp>
        <p:nvSpPr>
          <p:cNvPr id="1048639" name="Text 45"/>
          <p:cNvSpPr/>
          <p:nvPr/>
        </p:nvSpPr>
        <p:spPr>
          <a:xfrm>
            <a:off x="8229600" y="2130552"/>
            <a:ext cx="3364992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within learned normal range</a:t>
            </a:r>
            <a:endParaRPr dirty="0" sz="1000" lang="en-US"/>
          </a:p>
        </p:txBody>
      </p:sp>
      <p:sp>
        <p:nvSpPr>
          <p:cNvPr id="1048640" name="Shape 46"/>
          <p:cNvSpPr/>
          <p:nvPr/>
        </p:nvSpPr>
        <p:spPr>
          <a:xfrm>
            <a:off x="7863840" y="2606040"/>
            <a:ext cx="3867912" cy="713232"/>
          </a:xfrm>
          <a:prstGeom prst="roundRect">
            <a:avLst>
              <a:gd name="adj" fmla="val 7692"/>
            </a:avLst>
          </a:prstGeom>
          <a:solidFill>
            <a:srgbClr val="F3F7F5"/>
          </a:solidFill>
        </p:spPr>
      </p:sp>
      <p:sp>
        <p:nvSpPr>
          <p:cNvPr id="1048641" name="Shape 47"/>
          <p:cNvSpPr/>
          <p:nvPr/>
        </p:nvSpPr>
        <p:spPr>
          <a:xfrm>
            <a:off x="7991856" y="2734056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C97B1E"/>
          </a:solidFill>
        </p:spPr>
      </p:sp>
      <p:sp>
        <p:nvSpPr>
          <p:cNvPr id="1048642" name="Text 48"/>
          <p:cNvSpPr/>
          <p:nvPr/>
        </p:nvSpPr>
        <p:spPr>
          <a:xfrm>
            <a:off x="8229600" y="2679192"/>
            <a:ext cx="3364992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Anomaly</a:t>
            </a:r>
            <a:endParaRPr dirty="0" sz="1300" lang="en-US"/>
          </a:p>
        </p:txBody>
      </p:sp>
      <p:sp>
        <p:nvSpPr>
          <p:cNvPr id="1048643" name="Text 49"/>
          <p:cNvSpPr/>
          <p:nvPr/>
        </p:nvSpPr>
        <p:spPr>
          <a:xfrm>
            <a:off x="8229600" y="2953512"/>
            <a:ext cx="3364992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pattern flagged for review</a:t>
            </a:r>
            <a:endParaRPr dirty="0" sz="1000" lang="en-US"/>
          </a:p>
        </p:txBody>
      </p:sp>
      <p:sp>
        <p:nvSpPr>
          <p:cNvPr id="1048644" name="Shape 50"/>
          <p:cNvSpPr/>
          <p:nvPr/>
        </p:nvSpPr>
        <p:spPr>
          <a:xfrm>
            <a:off x="7863840" y="3429000"/>
            <a:ext cx="3867912" cy="713232"/>
          </a:xfrm>
          <a:prstGeom prst="roundRect">
            <a:avLst>
              <a:gd name="adj" fmla="val 7692"/>
            </a:avLst>
          </a:prstGeom>
          <a:solidFill>
            <a:srgbClr val="F3F7F5"/>
          </a:solidFill>
        </p:spPr>
      </p:sp>
      <p:sp>
        <p:nvSpPr>
          <p:cNvPr id="1048645" name="Shape 51"/>
          <p:cNvSpPr/>
          <p:nvPr/>
        </p:nvSpPr>
        <p:spPr>
          <a:xfrm>
            <a:off x="7991856" y="3557016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B3261E"/>
          </a:solidFill>
        </p:spPr>
      </p:sp>
      <p:sp>
        <p:nvSpPr>
          <p:cNvPr id="1048646" name="Text 52"/>
          <p:cNvSpPr/>
          <p:nvPr/>
        </p:nvSpPr>
        <p:spPr>
          <a:xfrm>
            <a:off x="8229600" y="3502152"/>
            <a:ext cx="3364992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Condition</a:t>
            </a:r>
            <a:endParaRPr dirty="0" sz="1300" lang="en-US"/>
          </a:p>
        </p:txBody>
      </p:sp>
      <p:sp>
        <p:nvSpPr>
          <p:cNvPr id="1048647" name="Text 53"/>
          <p:cNvSpPr/>
          <p:nvPr/>
        </p:nvSpPr>
        <p:spPr>
          <a:xfrm>
            <a:off x="8229600" y="3776472"/>
            <a:ext cx="3364992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deviation — needs urgent check</a:t>
            </a:r>
            <a:endParaRPr dirty="0" sz="1000" lang="en-US"/>
          </a:p>
        </p:txBody>
      </p:sp>
      <p:sp>
        <p:nvSpPr>
          <p:cNvPr id="1048648" name="Shape 54"/>
          <p:cNvSpPr/>
          <p:nvPr/>
        </p:nvSpPr>
        <p:spPr>
          <a:xfrm>
            <a:off x="7863840" y="4251960"/>
            <a:ext cx="3867912" cy="713232"/>
          </a:xfrm>
          <a:prstGeom prst="roundRect">
            <a:avLst>
              <a:gd name="adj" fmla="val 7692"/>
            </a:avLst>
          </a:prstGeom>
          <a:solidFill>
            <a:srgbClr val="F3F7F5"/>
          </a:solidFill>
        </p:spPr>
      </p:sp>
      <p:sp>
        <p:nvSpPr>
          <p:cNvPr id="1048649" name="Shape 55"/>
          <p:cNvSpPr/>
          <p:nvPr/>
        </p:nvSpPr>
        <p:spPr>
          <a:xfrm>
            <a:off x="7991856" y="4379976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1C7293"/>
          </a:solidFill>
        </p:spPr>
      </p:sp>
      <p:sp>
        <p:nvSpPr>
          <p:cNvPr id="1048650" name="Text 56"/>
          <p:cNvSpPr/>
          <p:nvPr/>
        </p:nvSpPr>
        <p:spPr>
          <a:xfrm>
            <a:off x="8229600" y="4325112"/>
            <a:ext cx="3364992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/ Risk Score</a:t>
            </a:r>
            <a:endParaRPr dirty="0" sz="1300" lang="en-US"/>
          </a:p>
        </p:txBody>
      </p:sp>
      <p:sp>
        <p:nvSpPr>
          <p:cNvPr id="1048651" name="Text 57"/>
          <p:cNvSpPr/>
          <p:nvPr/>
        </p:nvSpPr>
        <p:spPr>
          <a:xfrm>
            <a:off x="8229600" y="4599432"/>
            <a:ext cx="3364992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score showing deviation strength</a:t>
            </a:r>
            <a:endParaRPr dirty="0" sz="1000" lang="en-US"/>
          </a:p>
        </p:txBody>
      </p:sp>
      <p:sp>
        <p:nvSpPr>
          <p:cNvPr id="1048652" name="Text 58"/>
          <p:cNvSpPr/>
          <p:nvPr/>
        </p:nvSpPr>
        <p:spPr>
          <a:xfrm>
            <a:off x="457200" y="6108192"/>
            <a:ext cx="11274552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i="1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sensor data are numeric measurements; the AI output is an interpreted classification and score — the system does not currently generate these outputs, they describe the proposed model's behaviour.</a:t>
            </a:r>
            <a:endParaRPr dirty="0" sz="1050" lang="en-US"/>
          </a:p>
        </p:txBody>
      </p:sp>
      <p:sp>
        <p:nvSpPr>
          <p:cNvPr id="1048653" name="Text 59"/>
          <p:cNvSpPr/>
          <p:nvPr/>
        </p:nvSpPr>
        <p:spPr>
          <a:xfrm>
            <a:off x="457200" y="6528816"/>
            <a:ext cx="11274552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50" i="1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4  —  AI Input &amp; Output</a:t>
            </a:r>
            <a:endParaRPr dirty="0" sz="95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ext 0"/>
          <p:cNvSpPr/>
          <p:nvPr/>
        </p:nvSpPr>
        <p:spPr>
          <a:xfrm>
            <a:off x="457200" y="320040"/>
            <a:ext cx="11274552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Type: Anomaly Detection</a:t>
            </a:r>
            <a:endParaRPr dirty="0" sz="3200" lang="en-US"/>
          </a:p>
        </p:txBody>
      </p:sp>
      <p:sp>
        <p:nvSpPr>
          <p:cNvPr id="1048658" name="Text 1"/>
          <p:cNvSpPr/>
          <p:nvPr/>
        </p:nvSpPr>
        <p:spPr>
          <a:xfrm>
            <a:off x="457200" y="868680"/>
            <a:ext cx="11274552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5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anomaly detection fits this problem better than the alternatives</a:t>
            </a:r>
            <a:endParaRPr dirty="0" sz="1350" lang="en-US"/>
          </a:p>
        </p:txBody>
      </p:sp>
      <p:sp>
        <p:nvSpPr>
          <p:cNvPr id="1048659" name="Shape 2"/>
          <p:cNvSpPr/>
          <p:nvPr/>
        </p:nvSpPr>
        <p:spPr>
          <a:xfrm>
            <a:off x="457200" y="141732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E7F5EE"/>
          </a:solidFill>
          <a:ln w="15875">
            <a:solidFill>
              <a:srgbClr val="1B4332"/>
            </a:solidFill>
            <a:prstDash val="solid"/>
          </a:ln>
        </p:spPr>
      </p:sp>
      <p:sp>
        <p:nvSpPr>
          <p:cNvPr id="1048660" name="Text 3"/>
          <p:cNvSpPr/>
          <p:nvPr/>
        </p:nvSpPr>
        <p:spPr>
          <a:xfrm>
            <a:off x="621792" y="1545336"/>
            <a:ext cx="2395728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dirty="0" sz="1400" lang="en-US"/>
          </a:p>
        </p:txBody>
      </p:sp>
      <p:sp>
        <p:nvSpPr>
          <p:cNvPr id="1048661" name="Shape 4"/>
          <p:cNvSpPr/>
          <p:nvPr/>
        </p:nvSpPr>
        <p:spPr>
          <a:xfrm>
            <a:off x="621792" y="1984248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1B4332"/>
          </a:solidFill>
        </p:spPr>
      </p:sp>
      <p:sp>
        <p:nvSpPr>
          <p:cNvPr id="1048662" name="Text 5"/>
          <p:cNvSpPr/>
          <p:nvPr/>
        </p:nvSpPr>
        <p:spPr>
          <a:xfrm>
            <a:off x="621792" y="1984248"/>
            <a:ext cx="2395728" cy="274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dirty="0" sz="950" lang="en-US"/>
          </a:p>
        </p:txBody>
      </p:sp>
      <p:sp>
        <p:nvSpPr>
          <p:cNvPr id="1048663" name="Text 6"/>
          <p:cNvSpPr/>
          <p:nvPr/>
        </p:nvSpPr>
        <p:spPr>
          <a:xfrm>
            <a:off x="621792" y="2331720"/>
            <a:ext cx="2395728" cy="896112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8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normal water behaviour from unlabeled sensor streams and flags deviations — no incident history needed.</a:t>
            </a:r>
            <a:endParaRPr dirty="0" sz="1080" lang="en-US"/>
          </a:p>
        </p:txBody>
      </p:sp>
      <p:sp>
        <p:nvSpPr>
          <p:cNvPr id="1048664" name="Shape 7"/>
          <p:cNvSpPr/>
          <p:nvPr/>
        </p:nvSpPr>
        <p:spPr>
          <a:xfrm>
            <a:off x="3310128" y="141732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F3F7F5"/>
          </a:solidFill>
        </p:spPr>
      </p:sp>
      <p:sp>
        <p:nvSpPr>
          <p:cNvPr id="1048665" name="Text 8"/>
          <p:cNvSpPr/>
          <p:nvPr/>
        </p:nvSpPr>
        <p:spPr>
          <a:xfrm>
            <a:off x="3474720" y="1545336"/>
            <a:ext cx="2395728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/ Forecasting</a:t>
            </a:r>
            <a:endParaRPr dirty="0" sz="1400" lang="en-US"/>
          </a:p>
        </p:txBody>
      </p:sp>
      <p:sp>
        <p:nvSpPr>
          <p:cNvPr id="1048666" name="Shape 9"/>
          <p:cNvSpPr/>
          <p:nvPr/>
        </p:nvSpPr>
        <p:spPr>
          <a:xfrm>
            <a:off x="3474720" y="1984248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5B6B65"/>
          </a:solidFill>
        </p:spPr>
      </p:sp>
      <p:sp>
        <p:nvSpPr>
          <p:cNvPr id="1048667" name="Text 10"/>
          <p:cNvSpPr/>
          <p:nvPr/>
        </p:nvSpPr>
        <p:spPr>
          <a:xfrm>
            <a:off x="3474720" y="1984248"/>
            <a:ext cx="2395728" cy="274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CHOSEN</a:t>
            </a:r>
            <a:endParaRPr dirty="0" sz="950" lang="en-US"/>
          </a:p>
        </p:txBody>
      </p:sp>
      <p:sp>
        <p:nvSpPr>
          <p:cNvPr id="1048668" name="Text 11"/>
          <p:cNvSpPr/>
          <p:nvPr/>
        </p:nvSpPr>
        <p:spPr>
          <a:xfrm>
            <a:off x="3474720" y="2331720"/>
            <a:ext cx="2395728" cy="896112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8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future values, but doesn't judge whether the current reading is already abnormal.</a:t>
            </a:r>
            <a:endParaRPr dirty="0" sz="1080" lang="en-US"/>
          </a:p>
        </p:txBody>
      </p:sp>
      <p:sp>
        <p:nvSpPr>
          <p:cNvPr id="1048669" name="Shape 12"/>
          <p:cNvSpPr/>
          <p:nvPr/>
        </p:nvSpPr>
        <p:spPr>
          <a:xfrm>
            <a:off x="6163056" y="141732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F3F7F5"/>
          </a:solidFill>
        </p:spPr>
      </p:sp>
      <p:sp>
        <p:nvSpPr>
          <p:cNvPr id="1048670" name="Text 13"/>
          <p:cNvSpPr/>
          <p:nvPr/>
        </p:nvSpPr>
        <p:spPr>
          <a:xfrm>
            <a:off x="6327648" y="1545336"/>
            <a:ext cx="2395728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dirty="0" sz="1400" lang="en-US"/>
          </a:p>
        </p:txBody>
      </p:sp>
      <p:sp>
        <p:nvSpPr>
          <p:cNvPr id="1048671" name="Shape 14"/>
          <p:cNvSpPr/>
          <p:nvPr/>
        </p:nvSpPr>
        <p:spPr>
          <a:xfrm>
            <a:off x="6327648" y="1984248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5B6B65"/>
          </a:solidFill>
        </p:spPr>
      </p:sp>
      <p:sp>
        <p:nvSpPr>
          <p:cNvPr id="1048672" name="Text 15"/>
          <p:cNvSpPr/>
          <p:nvPr/>
        </p:nvSpPr>
        <p:spPr>
          <a:xfrm>
            <a:off x="6327648" y="1984248"/>
            <a:ext cx="2395728" cy="274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CHOSEN</a:t>
            </a:r>
            <a:endParaRPr dirty="0" sz="950" lang="en-US"/>
          </a:p>
        </p:txBody>
      </p:sp>
      <p:sp>
        <p:nvSpPr>
          <p:cNvPr id="1048673" name="Text 16"/>
          <p:cNvSpPr/>
          <p:nvPr/>
        </p:nvSpPr>
        <p:spPr>
          <a:xfrm>
            <a:off x="6327648" y="2331720"/>
            <a:ext cx="2395728" cy="896112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8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labeled examples of past “contamination” / “stagnation” events, which the audit does not provide.</a:t>
            </a:r>
            <a:endParaRPr dirty="0" sz="1080" lang="en-US"/>
          </a:p>
        </p:txBody>
      </p:sp>
      <p:sp>
        <p:nvSpPr>
          <p:cNvPr id="1048674" name="Shape 17"/>
          <p:cNvSpPr/>
          <p:nvPr/>
        </p:nvSpPr>
        <p:spPr>
          <a:xfrm>
            <a:off x="9015984" y="141732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F3F7F5"/>
          </a:solidFill>
        </p:spPr>
      </p:sp>
      <p:sp>
        <p:nvSpPr>
          <p:cNvPr id="1048675" name="Text 18"/>
          <p:cNvSpPr/>
          <p:nvPr/>
        </p:nvSpPr>
        <p:spPr>
          <a:xfrm>
            <a:off x="9180576" y="1545336"/>
            <a:ext cx="2395728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dirty="0" sz="1400" lang="en-US"/>
          </a:p>
        </p:txBody>
      </p:sp>
      <p:sp>
        <p:nvSpPr>
          <p:cNvPr id="1048676" name="Shape 19"/>
          <p:cNvSpPr/>
          <p:nvPr/>
        </p:nvSpPr>
        <p:spPr>
          <a:xfrm>
            <a:off x="9180576" y="1984248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5B6B65"/>
          </a:solidFill>
        </p:spPr>
      </p:sp>
      <p:sp>
        <p:nvSpPr>
          <p:cNvPr id="1048677" name="Text 20"/>
          <p:cNvSpPr/>
          <p:nvPr/>
        </p:nvSpPr>
        <p:spPr>
          <a:xfrm>
            <a:off x="9180576" y="1984248"/>
            <a:ext cx="2395728" cy="274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CHOSEN</a:t>
            </a:r>
            <a:endParaRPr dirty="0" sz="950" lang="en-US"/>
          </a:p>
        </p:txBody>
      </p:sp>
      <p:sp>
        <p:nvSpPr>
          <p:cNvPr id="1048678" name="Text 21"/>
          <p:cNvSpPr/>
          <p:nvPr/>
        </p:nvSpPr>
        <p:spPr>
          <a:xfrm>
            <a:off x="9180576" y="2331720"/>
            <a:ext cx="2395728" cy="896112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8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options to users; not designed to flag unusual sensor readings.</a:t>
            </a:r>
            <a:endParaRPr dirty="0" sz="1080" lang="en-US"/>
          </a:p>
        </p:txBody>
      </p:sp>
      <p:sp>
        <p:nvSpPr>
          <p:cNvPr id="1048679" name="Text 22"/>
          <p:cNvSpPr/>
          <p:nvPr/>
        </p:nvSpPr>
        <p:spPr>
          <a:xfrm>
            <a:off x="457200" y="3566160"/>
            <a:ext cx="11274552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 — Data to Real-World Action</a:t>
            </a:r>
            <a:endParaRPr dirty="0" sz="1600" lang="en-US"/>
          </a:p>
        </p:txBody>
      </p:sp>
      <p:sp>
        <p:nvSpPr>
          <p:cNvPr id="1048680" name="Shape 23"/>
          <p:cNvSpPr/>
          <p:nvPr/>
        </p:nvSpPr>
        <p:spPr>
          <a:xfrm>
            <a:off x="457200" y="39776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3F7F5"/>
          </a:solidFill>
        </p:spPr>
      </p:sp>
      <p:sp>
        <p:nvSpPr>
          <p:cNvPr id="1048681" name="Shape 24"/>
          <p:cNvSpPr/>
          <p:nvPr/>
        </p:nvSpPr>
        <p:spPr>
          <a:xfrm>
            <a:off x="457200" y="3977640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1B4332"/>
          </a:solidFill>
        </p:spPr>
      </p:sp>
      <p:sp>
        <p:nvSpPr>
          <p:cNvPr id="1048682" name="Text 25"/>
          <p:cNvSpPr/>
          <p:nvPr/>
        </p:nvSpPr>
        <p:spPr>
          <a:xfrm>
            <a:off x="457200" y="3977640"/>
            <a:ext cx="1298448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Sense</a:t>
            </a:r>
            <a:endParaRPr dirty="0" sz="1050" lang="en-US"/>
          </a:p>
        </p:txBody>
      </p:sp>
      <p:sp>
        <p:nvSpPr>
          <p:cNvPr id="1048683" name="Text 26"/>
          <p:cNvSpPr/>
          <p:nvPr/>
        </p:nvSpPr>
        <p:spPr>
          <a:xfrm>
            <a:off x="530352" y="4306824"/>
            <a:ext cx="1152144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ct val="100000"/>
              </a:lnSpc>
              <a:buNone/>
            </a:pPr>
            <a:r>
              <a:rPr dirty="0" sz="86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sensors capture turbidity, pH, DO, level &amp; temperature</a:t>
            </a:r>
            <a:endParaRPr dirty="0" sz="860" lang="en-US"/>
          </a:p>
        </p:txBody>
      </p:sp>
      <p:sp>
        <p:nvSpPr>
          <p:cNvPr id="1048684" name="Shape 27"/>
          <p:cNvSpPr/>
          <p:nvPr/>
        </p:nvSpPr>
        <p:spPr>
          <a:xfrm>
            <a:off x="1764792" y="4448556"/>
            <a:ext cx="114300" cy="109728"/>
          </a:xfrm>
          <a:prstGeom prst="rightArrow"/>
          <a:solidFill>
            <a:srgbClr val="5B6B65"/>
          </a:solidFill>
        </p:spPr>
      </p:sp>
      <p:sp>
        <p:nvSpPr>
          <p:cNvPr id="1048685" name="Shape 28"/>
          <p:cNvSpPr/>
          <p:nvPr/>
        </p:nvSpPr>
        <p:spPr>
          <a:xfrm>
            <a:off x="1888236" y="39776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3F7F5"/>
          </a:solidFill>
        </p:spPr>
      </p:sp>
      <p:sp>
        <p:nvSpPr>
          <p:cNvPr id="1048686" name="Shape 29"/>
          <p:cNvSpPr/>
          <p:nvPr/>
        </p:nvSpPr>
        <p:spPr>
          <a:xfrm>
            <a:off x="1888236" y="3977640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</p:spPr>
      </p:sp>
      <p:sp>
        <p:nvSpPr>
          <p:cNvPr id="1048687" name="Text 30"/>
          <p:cNvSpPr/>
          <p:nvPr/>
        </p:nvSpPr>
        <p:spPr>
          <a:xfrm>
            <a:off x="1888236" y="3977640"/>
            <a:ext cx="1298448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Collect</a:t>
            </a:r>
            <a:endParaRPr dirty="0" sz="1050" lang="en-US"/>
          </a:p>
        </p:txBody>
      </p:sp>
      <p:sp>
        <p:nvSpPr>
          <p:cNvPr id="1048688" name="Text 31"/>
          <p:cNvSpPr/>
          <p:nvPr/>
        </p:nvSpPr>
        <p:spPr>
          <a:xfrm>
            <a:off x="1961388" y="4306824"/>
            <a:ext cx="1152144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ct val="100000"/>
              </a:lnSpc>
              <a:buNone/>
            </a:pPr>
            <a:r>
              <a:rPr dirty="0" sz="86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streamed to the cloud via MQTT / HTTPS</a:t>
            </a:r>
            <a:endParaRPr dirty="0" sz="860" lang="en-US"/>
          </a:p>
        </p:txBody>
      </p:sp>
      <p:sp>
        <p:nvSpPr>
          <p:cNvPr id="1048689" name="Shape 32"/>
          <p:cNvSpPr/>
          <p:nvPr/>
        </p:nvSpPr>
        <p:spPr>
          <a:xfrm>
            <a:off x="3195828" y="4448556"/>
            <a:ext cx="114300" cy="109728"/>
          </a:xfrm>
          <a:prstGeom prst="rightArrow"/>
          <a:solidFill>
            <a:srgbClr val="5B6B65"/>
          </a:solidFill>
        </p:spPr>
      </p:sp>
      <p:sp>
        <p:nvSpPr>
          <p:cNvPr id="1048690" name="Shape 33"/>
          <p:cNvSpPr/>
          <p:nvPr/>
        </p:nvSpPr>
        <p:spPr>
          <a:xfrm>
            <a:off x="3319272" y="39776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3F7F5"/>
          </a:solidFill>
        </p:spPr>
      </p:sp>
      <p:sp>
        <p:nvSpPr>
          <p:cNvPr id="1048691" name="Shape 34"/>
          <p:cNvSpPr/>
          <p:nvPr/>
        </p:nvSpPr>
        <p:spPr>
          <a:xfrm>
            <a:off x="3319272" y="3977640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</p:spPr>
      </p:sp>
      <p:sp>
        <p:nvSpPr>
          <p:cNvPr id="1048692" name="Text 35"/>
          <p:cNvSpPr/>
          <p:nvPr/>
        </p:nvSpPr>
        <p:spPr>
          <a:xfrm>
            <a:off x="3319272" y="3977640"/>
            <a:ext cx="1298448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Validate</a:t>
            </a:r>
            <a:endParaRPr dirty="0" sz="1050" lang="en-US"/>
          </a:p>
        </p:txBody>
      </p:sp>
      <p:sp>
        <p:nvSpPr>
          <p:cNvPr id="1048693" name="Text 36"/>
          <p:cNvSpPr/>
          <p:nvPr/>
        </p:nvSpPr>
        <p:spPr>
          <a:xfrm>
            <a:off x="3392424" y="4306824"/>
            <a:ext cx="1152144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ct val="100000"/>
              </a:lnSpc>
              <a:buNone/>
            </a:pPr>
            <a:r>
              <a:rPr dirty="0" sz="86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cleaned; sensor faults &amp; noise checked</a:t>
            </a:r>
            <a:endParaRPr dirty="0" sz="860" lang="en-US"/>
          </a:p>
        </p:txBody>
      </p:sp>
      <p:sp>
        <p:nvSpPr>
          <p:cNvPr id="1048694" name="Shape 37"/>
          <p:cNvSpPr/>
          <p:nvPr/>
        </p:nvSpPr>
        <p:spPr>
          <a:xfrm>
            <a:off x="4626864" y="4448556"/>
            <a:ext cx="114300" cy="109728"/>
          </a:xfrm>
          <a:prstGeom prst="rightArrow"/>
          <a:solidFill>
            <a:srgbClr val="5B6B65"/>
          </a:solidFill>
        </p:spPr>
      </p:sp>
      <p:sp>
        <p:nvSpPr>
          <p:cNvPr id="1048695" name="Shape 38"/>
          <p:cNvSpPr/>
          <p:nvPr/>
        </p:nvSpPr>
        <p:spPr>
          <a:xfrm>
            <a:off x="4750308" y="39776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3F7F5"/>
          </a:solidFill>
        </p:spPr>
      </p:sp>
      <p:sp>
        <p:nvSpPr>
          <p:cNvPr id="1048696" name="Shape 39"/>
          <p:cNvSpPr/>
          <p:nvPr/>
        </p:nvSpPr>
        <p:spPr>
          <a:xfrm>
            <a:off x="4750308" y="3977640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</p:spPr>
      </p:sp>
      <p:sp>
        <p:nvSpPr>
          <p:cNvPr id="1048697" name="Text 40"/>
          <p:cNvSpPr/>
          <p:nvPr/>
        </p:nvSpPr>
        <p:spPr>
          <a:xfrm>
            <a:off x="4750308" y="3977640"/>
            <a:ext cx="1298448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Process</a:t>
            </a:r>
            <a:endParaRPr dirty="0" sz="1050" lang="en-US"/>
          </a:p>
        </p:txBody>
      </p:sp>
      <p:sp>
        <p:nvSpPr>
          <p:cNvPr id="1048698" name="Text 41"/>
          <p:cNvSpPr/>
          <p:nvPr/>
        </p:nvSpPr>
        <p:spPr>
          <a:xfrm>
            <a:off x="4823460" y="4306824"/>
            <a:ext cx="1152144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ct val="100000"/>
              </a:lnSpc>
              <a:buNone/>
            </a:pPr>
            <a:r>
              <a:rPr dirty="0" sz="86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extracted: trends, rate of change, baselines</a:t>
            </a:r>
            <a:endParaRPr dirty="0" sz="860" lang="en-US"/>
          </a:p>
        </p:txBody>
      </p:sp>
      <p:sp>
        <p:nvSpPr>
          <p:cNvPr id="1048699" name="Shape 42"/>
          <p:cNvSpPr/>
          <p:nvPr/>
        </p:nvSpPr>
        <p:spPr>
          <a:xfrm>
            <a:off x="6057900" y="4448556"/>
            <a:ext cx="114300" cy="109728"/>
          </a:xfrm>
          <a:prstGeom prst="rightArrow"/>
          <a:solidFill>
            <a:srgbClr val="5B6B65"/>
          </a:solidFill>
        </p:spPr>
      </p:sp>
      <p:sp>
        <p:nvSpPr>
          <p:cNvPr id="1048700" name="Shape 43"/>
          <p:cNvSpPr/>
          <p:nvPr/>
        </p:nvSpPr>
        <p:spPr>
          <a:xfrm>
            <a:off x="6181344" y="39776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3F7F5"/>
          </a:solidFill>
        </p:spPr>
      </p:sp>
      <p:sp>
        <p:nvSpPr>
          <p:cNvPr id="1048701" name="Shape 44"/>
          <p:cNvSpPr/>
          <p:nvPr/>
        </p:nvSpPr>
        <p:spPr>
          <a:xfrm>
            <a:off x="6181344" y="3977640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1B4332"/>
          </a:solidFill>
        </p:spPr>
      </p:sp>
      <p:sp>
        <p:nvSpPr>
          <p:cNvPr id="1048702" name="Text 45"/>
          <p:cNvSpPr/>
          <p:nvPr/>
        </p:nvSpPr>
        <p:spPr>
          <a:xfrm>
            <a:off x="6181344" y="3977640"/>
            <a:ext cx="1298448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Detect</a:t>
            </a:r>
            <a:endParaRPr dirty="0" sz="1050" lang="en-US"/>
          </a:p>
        </p:txBody>
      </p:sp>
      <p:sp>
        <p:nvSpPr>
          <p:cNvPr id="1048703" name="Text 46"/>
          <p:cNvSpPr/>
          <p:nvPr/>
        </p:nvSpPr>
        <p:spPr>
          <a:xfrm>
            <a:off x="6254496" y="4306824"/>
            <a:ext cx="1152144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ct val="100000"/>
              </a:lnSpc>
              <a:buNone/>
            </a:pPr>
            <a:r>
              <a:rPr dirty="0" sz="86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model scores the deviation</a:t>
            </a:r>
            <a:endParaRPr dirty="0" sz="860" lang="en-US"/>
          </a:p>
        </p:txBody>
      </p:sp>
      <p:sp>
        <p:nvSpPr>
          <p:cNvPr id="1048704" name="Shape 47"/>
          <p:cNvSpPr/>
          <p:nvPr/>
        </p:nvSpPr>
        <p:spPr>
          <a:xfrm>
            <a:off x="7488936" y="4448556"/>
            <a:ext cx="114300" cy="109728"/>
          </a:xfrm>
          <a:prstGeom prst="rightArrow"/>
          <a:solidFill>
            <a:srgbClr val="5B6B65"/>
          </a:solidFill>
        </p:spPr>
      </p:sp>
      <p:sp>
        <p:nvSpPr>
          <p:cNvPr id="1048705" name="Shape 48"/>
          <p:cNvSpPr/>
          <p:nvPr/>
        </p:nvSpPr>
        <p:spPr>
          <a:xfrm>
            <a:off x="7612380" y="39776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3F7F5"/>
          </a:solidFill>
        </p:spPr>
      </p:sp>
      <p:sp>
        <p:nvSpPr>
          <p:cNvPr id="1048706" name="Shape 49"/>
          <p:cNvSpPr/>
          <p:nvPr/>
        </p:nvSpPr>
        <p:spPr>
          <a:xfrm>
            <a:off x="7612380" y="3977640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</p:spPr>
      </p:sp>
      <p:sp>
        <p:nvSpPr>
          <p:cNvPr id="1048707" name="Text 50"/>
          <p:cNvSpPr/>
          <p:nvPr/>
        </p:nvSpPr>
        <p:spPr>
          <a:xfrm>
            <a:off x="7612380" y="3977640"/>
            <a:ext cx="1298448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Score</a:t>
            </a:r>
            <a:endParaRPr dirty="0" sz="1050" lang="en-US"/>
          </a:p>
        </p:txBody>
      </p:sp>
      <p:sp>
        <p:nvSpPr>
          <p:cNvPr id="1048708" name="Text 51"/>
          <p:cNvSpPr/>
          <p:nvPr/>
        </p:nvSpPr>
        <p:spPr>
          <a:xfrm>
            <a:off x="7685532" y="4306824"/>
            <a:ext cx="1152144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ct val="100000"/>
              </a:lnSpc>
              <a:buNone/>
            </a:pPr>
            <a:r>
              <a:rPr dirty="0" sz="86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anomaly score generated</a:t>
            </a:r>
            <a:endParaRPr dirty="0" sz="860" lang="en-US"/>
          </a:p>
        </p:txBody>
      </p:sp>
      <p:sp>
        <p:nvSpPr>
          <p:cNvPr id="1048709" name="Shape 52"/>
          <p:cNvSpPr/>
          <p:nvPr/>
        </p:nvSpPr>
        <p:spPr>
          <a:xfrm>
            <a:off x="8919972" y="4448556"/>
            <a:ext cx="114300" cy="109728"/>
          </a:xfrm>
          <a:prstGeom prst="rightArrow"/>
          <a:solidFill>
            <a:srgbClr val="5B6B65"/>
          </a:solidFill>
        </p:spPr>
      </p:sp>
      <p:sp>
        <p:nvSpPr>
          <p:cNvPr id="1048710" name="Shape 53"/>
          <p:cNvSpPr/>
          <p:nvPr/>
        </p:nvSpPr>
        <p:spPr>
          <a:xfrm>
            <a:off x="9043416" y="39776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3F7F5"/>
          </a:solidFill>
        </p:spPr>
      </p:sp>
      <p:sp>
        <p:nvSpPr>
          <p:cNvPr id="1048711" name="Shape 54"/>
          <p:cNvSpPr/>
          <p:nvPr/>
        </p:nvSpPr>
        <p:spPr>
          <a:xfrm>
            <a:off x="9043416" y="3977640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C97B1E"/>
          </a:solidFill>
        </p:spPr>
      </p:sp>
      <p:sp>
        <p:nvSpPr>
          <p:cNvPr id="1048712" name="Text 55"/>
          <p:cNvSpPr/>
          <p:nvPr/>
        </p:nvSpPr>
        <p:spPr>
          <a:xfrm>
            <a:off x="9043416" y="3977640"/>
            <a:ext cx="1298448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Alert</a:t>
            </a:r>
            <a:endParaRPr dirty="0" sz="1050" lang="en-US"/>
          </a:p>
        </p:txBody>
      </p:sp>
      <p:sp>
        <p:nvSpPr>
          <p:cNvPr id="1048713" name="Text 56"/>
          <p:cNvSpPr/>
          <p:nvPr/>
        </p:nvSpPr>
        <p:spPr>
          <a:xfrm>
            <a:off x="9116568" y="4306824"/>
            <a:ext cx="1152144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ct val="100000"/>
              </a:lnSpc>
              <a:buNone/>
            </a:pPr>
            <a:r>
              <a:rPr dirty="0" sz="86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sent for high-risk scores</a:t>
            </a:r>
            <a:endParaRPr dirty="0" sz="860" lang="en-US"/>
          </a:p>
        </p:txBody>
      </p:sp>
      <p:sp>
        <p:nvSpPr>
          <p:cNvPr id="1048714" name="Shape 57"/>
          <p:cNvSpPr/>
          <p:nvPr/>
        </p:nvSpPr>
        <p:spPr>
          <a:xfrm>
            <a:off x="10351008" y="4448556"/>
            <a:ext cx="114300" cy="109728"/>
          </a:xfrm>
          <a:prstGeom prst="rightArrow"/>
          <a:solidFill>
            <a:srgbClr val="5B6B65"/>
          </a:solidFill>
        </p:spPr>
      </p:sp>
      <p:sp>
        <p:nvSpPr>
          <p:cNvPr id="1048715" name="Shape 58"/>
          <p:cNvSpPr/>
          <p:nvPr/>
        </p:nvSpPr>
        <p:spPr>
          <a:xfrm>
            <a:off x="10474452" y="39776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3F7F5"/>
          </a:solidFill>
        </p:spPr>
      </p:sp>
      <p:sp>
        <p:nvSpPr>
          <p:cNvPr id="1048716" name="Shape 59"/>
          <p:cNvSpPr/>
          <p:nvPr/>
        </p:nvSpPr>
        <p:spPr>
          <a:xfrm>
            <a:off x="10474452" y="3977640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B3261E"/>
          </a:solidFill>
        </p:spPr>
      </p:sp>
      <p:sp>
        <p:nvSpPr>
          <p:cNvPr id="1048717" name="Text 60"/>
          <p:cNvSpPr/>
          <p:nvPr/>
        </p:nvSpPr>
        <p:spPr>
          <a:xfrm>
            <a:off x="10474452" y="3977640"/>
            <a:ext cx="1298448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Act</a:t>
            </a:r>
            <a:endParaRPr dirty="0" sz="1050" lang="en-US"/>
          </a:p>
        </p:txBody>
      </p:sp>
      <p:sp>
        <p:nvSpPr>
          <p:cNvPr id="1048718" name="Text 61"/>
          <p:cNvSpPr/>
          <p:nvPr/>
        </p:nvSpPr>
        <p:spPr>
          <a:xfrm>
            <a:off x="10547604" y="4306824"/>
            <a:ext cx="1152144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ct val="100000"/>
              </a:lnSpc>
              <a:buNone/>
            </a:pPr>
            <a:r>
              <a:rPr dirty="0" sz="86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team inspects &amp; takes corrective action</a:t>
            </a:r>
            <a:endParaRPr dirty="0" sz="860" lang="en-US"/>
          </a:p>
        </p:txBody>
      </p:sp>
      <p:sp>
        <p:nvSpPr>
          <p:cNvPr id="1048719" name="Text 62"/>
          <p:cNvSpPr/>
          <p:nvPr/>
        </p:nvSpPr>
        <p:spPr>
          <a:xfrm>
            <a:off x="457200" y="5257800"/>
            <a:ext cx="11274552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i="1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SCSMS's existing Detect → Transmit → Store → Analyze → Decide → Act → Close workflow (Assignment 3A) with a dedicated ML anomaly-detection step inside “Analyze.”</a:t>
            </a:r>
            <a:endParaRPr dirty="0" sz="1050" lang="en-US"/>
          </a:p>
        </p:txBody>
      </p:sp>
      <p:sp>
        <p:nvSpPr>
          <p:cNvPr id="1048720" name="Text 63"/>
          <p:cNvSpPr/>
          <p:nvPr/>
        </p:nvSpPr>
        <p:spPr>
          <a:xfrm>
            <a:off x="457200" y="6528816"/>
            <a:ext cx="11274552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50" i="1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4  —  AI Type &amp; Workflow</a:t>
            </a:r>
            <a:endParaRPr dirty="0" sz="95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ext 0"/>
          <p:cNvSpPr/>
          <p:nvPr/>
        </p:nvSpPr>
        <p:spPr>
          <a:xfrm>
            <a:off x="457200" y="320040"/>
            <a:ext cx="11274552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Feasibility &amp; Impact</a:t>
            </a:r>
            <a:endParaRPr dirty="0" sz="3200" lang="en-US"/>
          </a:p>
        </p:txBody>
      </p:sp>
      <p:sp>
        <p:nvSpPr>
          <p:cNvPr id="1048725" name="Text 1"/>
          <p:cNvSpPr/>
          <p:nvPr/>
        </p:nvSpPr>
        <p:spPr>
          <a:xfrm>
            <a:off x="457200" y="868680"/>
            <a:ext cx="11274552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5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technologies, expected benefits and measurable KPIs</a:t>
            </a:r>
            <a:endParaRPr dirty="0" sz="1350" lang="en-US"/>
          </a:p>
        </p:txBody>
      </p:sp>
      <p:sp>
        <p:nvSpPr>
          <p:cNvPr id="1048726" name="Shape 2"/>
          <p:cNvSpPr/>
          <p:nvPr/>
        </p:nvSpPr>
        <p:spPr>
          <a:xfrm>
            <a:off x="457200" y="1417320"/>
            <a:ext cx="3639312" cy="1170432"/>
          </a:xfrm>
          <a:prstGeom prst="roundRect">
            <a:avLst>
              <a:gd name="adj" fmla="val 5469"/>
            </a:avLst>
          </a:prstGeom>
          <a:solidFill>
            <a:srgbClr val="F3F7F5"/>
          </a:solidFill>
        </p:spPr>
      </p:sp>
      <p:sp>
        <p:nvSpPr>
          <p:cNvPr id="1048727" name="Shape 3"/>
          <p:cNvSpPr/>
          <p:nvPr/>
        </p:nvSpPr>
        <p:spPr>
          <a:xfrm>
            <a:off x="603504" y="1563624"/>
            <a:ext cx="310896" cy="310896"/>
          </a:xfrm>
          <a:prstGeom prst="ellipse"/>
          <a:solidFill>
            <a:srgbClr val="1C7293"/>
          </a:solidFill>
        </p:spPr>
      </p:sp>
      <p:sp>
        <p:nvSpPr>
          <p:cNvPr id="1048728" name="Text 4"/>
          <p:cNvSpPr/>
          <p:nvPr/>
        </p:nvSpPr>
        <p:spPr>
          <a:xfrm>
            <a:off x="603504" y="1563624"/>
            <a:ext cx="310896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1100" lang="en-US"/>
          </a:p>
        </p:txBody>
      </p:sp>
      <p:sp>
        <p:nvSpPr>
          <p:cNvPr id="1048729" name="Text 5"/>
          <p:cNvSpPr/>
          <p:nvPr/>
        </p:nvSpPr>
        <p:spPr>
          <a:xfrm>
            <a:off x="1024128" y="1527048"/>
            <a:ext cx="292608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5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dirty="0" sz="1250" lang="en-US"/>
          </a:p>
        </p:txBody>
      </p:sp>
      <p:sp>
        <p:nvSpPr>
          <p:cNvPr id="1048730" name="Text 6"/>
          <p:cNvSpPr/>
          <p:nvPr/>
        </p:nvSpPr>
        <p:spPr>
          <a:xfrm>
            <a:off x="1024128" y="1783080"/>
            <a:ext cx="292608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water-quality sensors</a:t>
            </a:r>
            <a:endParaRPr dirty="0" sz="1100" lang="en-US"/>
          </a:p>
        </p:txBody>
      </p:sp>
      <p:sp>
        <p:nvSpPr>
          <p:cNvPr id="1048731" name="Text 7"/>
          <p:cNvSpPr/>
          <p:nvPr/>
        </p:nvSpPr>
        <p:spPr>
          <a:xfrm>
            <a:off x="603504" y="2075688"/>
            <a:ext cx="3346704" cy="4572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93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already the SCSMS edge-layer standard for other sensor types</a:t>
            </a:r>
            <a:endParaRPr dirty="0" sz="930" lang="en-US"/>
          </a:p>
        </p:txBody>
      </p:sp>
      <p:sp>
        <p:nvSpPr>
          <p:cNvPr id="1048732" name="Shape 8"/>
          <p:cNvSpPr/>
          <p:nvPr/>
        </p:nvSpPr>
        <p:spPr>
          <a:xfrm>
            <a:off x="4219956" y="1417320"/>
            <a:ext cx="3639312" cy="1170432"/>
          </a:xfrm>
          <a:prstGeom prst="roundRect">
            <a:avLst>
              <a:gd name="adj" fmla="val 5469"/>
            </a:avLst>
          </a:prstGeom>
          <a:solidFill>
            <a:srgbClr val="F3F7F5"/>
          </a:solidFill>
        </p:spPr>
      </p:sp>
      <p:sp>
        <p:nvSpPr>
          <p:cNvPr id="1048733" name="Shape 9"/>
          <p:cNvSpPr/>
          <p:nvPr/>
        </p:nvSpPr>
        <p:spPr>
          <a:xfrm>
            <a:off x="4366260" y="1563624"/>
            <a:ext cx="310896" cy="310896"/>
          </a:xfrm>
          <a:prstGeom prst="ellipse"/>
          <a:solidFill>
            <a:srgbClr val="1C7293"/>
          </a:solidFill>
        </p:spPr>
      </p:sp>
      <p:sp>
        <p:nvSpPr>
          <p:cNvPr id="1048734" name="Text 10"/>
          <p:cNvSpPr/>
          <p:nvPr/>
        </p:nvSpPr>
        <p:spPr>
          <a:xfrm>
            <a:off x="4366260" y="1563624"/>
            <a:ext cx="310896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1100" lang="en-US"/>
          </a:p>
        </p:txBody>
      </p:sp>
      <p:sp>
        <p:nvSpPr>
          <p:cNvPr id="1048735" name="Text 11"/>
          <p:cNvSpPr/>
          <p:nvPr/>
        </p:nvSpPr>
        <p:spPr>
          <a:xfrm>
            <a:off x="4786884" y="1527048"/>
            <a:ext cx="292608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5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Transport</a:t>
            </a:r>
            <a:endParaRPr dirty="0" sz="1250" lang="en-US"/>
          </a:p>
        </p:txBody>
      </p:sp>
      <p:sp>
        <p:nvSpPr>
          <p:cNvPr id="1048736" name="Text 12"/>
          <p:cNvSpPr/>
          <p:nvPr/>
        </p:nvSpPr>
        <p:spPr>
          <a:xfrm>
            <a:off x="4786884" y="1783080"/>
            <a:ext cx="292608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/ HTTP → PostgreSQL / Firebase</a:t>
            </a:r>
            <a:endParaRPr dirty="0" sz="1100" lang="en-US"/>
          </a:p>
        </p:txBody>
      </p:sp>
      <p:sp>
        <p:nvSpPr>
          <p:cNvPr id="1048737" name="Text 13"/>
          <p:cNvSpPr/>
          <p:nvPr/>
        </p:nvSpPr>
        <p:spPr>
          <a:xfrm>
            <a:off x="4366260" y="2075688"/>
            <a:ext cx="3346704" cy="4572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93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SCSMS's existing IoT ingest and time-series database</a:t>
            </a:r>
            <a:endParaRPr dirty="0" sz="930" lang="en-US"/>
          </a:p>
        </p:txBody>
      </p:sp>
      <p:sp>
        <p:nvSpPr>
          <p:cNvPr id="1048738" name="Shape 14"/>
          <p:cNvSpPr/>
          <p:nvPr/>
        </p:nvSpPr>
        <p:spPr>
          <a:xfrm>
            <a:off x="7982712" y="1417320"/>
            <a:ext cx="3639312" cy="1170432"/>
          </a:xfrm>
          <a:prstGeom prst="roundRect">
            <a:avLst>
              <a:gd name="adj" fmla="val 5469"/>
            </a:avLst>
          </a:prstGeom>
          <a:solidFill>
            <a:srgbClr val="F3F7F5"/>
          </a:solidFill>
        </p:spPr>
      </p:sp>
      <p:sp>
        <p:nvSpPr>
          <p:cNvPr id="1048739" name="Shape 15"/>
          <p:cNvSpPr/>
          <p:nvPr/>
        </p:nvSpPr>
        <p:spPr>
          <a:xfrm>
            <a:off x="8129016" y="1563624"/>
            <a:ext cx="310896" cy="310896"/>
          </a:xfrm>
          <a:prstGeom prst="ellipse"/>
          <a:solidFill>
            <a:srgbClr val="1C7293"/>
          </a:solidFill>
        </p:spPr>
      </p:sp>
      <p:sp>
        <p:nvSpPr>
          <p:cNvPr id="1048740" name="Text 16"/>
          <p:cNvSpPr/>
          <p:nvPr/>
        </p:nvSpPr>
        <p:spPr>
          <a:xfrm>
            <a:off x="8129016" y="1563624"/>
            <a:ext cx="310896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100" lang="en-US"/>
          </a:p>
        </p:txBody>
      </p:sp>
      <p:sp>
        <p:nvSpPr>
          <p:cNvPr id="1048741" name="Text 17"/>
          <p:cNvSpPr/>
          <p:nvPr/>
        </p:nvSpPr>
        <p:spPr>
          <a:xfrm>
            <a:off x="8549640" y="1527048"/>
            <a:ext cx="292608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5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dirty="0" sz="1250" lang="en-US"/>
          </a:p>
        </p:txBody>
      </p:sp>
      <p:sp>
        <p:nvSpPr>
          <p:cNvPr id="1048742" name="Text 18"/>
          <p:cNvSpPr/>
          <p:nvPr/>
        </p:nvSpPr>
        <p:spPr>
          <a:xfrm>
            <a:off x="8549640" y="1783080"/>
            <a:ext cx="292608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</a:t>
            </a:r>
            <a:endParaRPr dirty="0" sz="1100" lang="en-US"/>
          </a:p>
        </p:txBody>
      </p:sp>
      <p:sp>
        <p:nvSpPr>
          <p:cNvPr id="1048743" name="Text 19"/>
          <p:cNvSpPr/>
          <p:nvPr/>
        </p:nvSpPr>
        <p:spPr>
          <a:xfrm>
            <a:off x="8129016" y="2075688"/>
            <a:ext cx="3346704" cy="4572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93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well-supported tools for cleaning and feature extraction</a:t>
            </a:r>
            <a:endParaRPr dirty="0" sz="930" lang="en-US"/>
          </a:p>
        </p:txBody>
      </p:sp>
      <p:sp>
        <p:nvSpPr>
          <p:cNvPr id="1048744" name="Shape 20"/>
          <p:cNvSpPr/>
          <p:nvPr/>
        </p:nvSpPr>
        <p:spPr>
          <a:xfrm>
            <a:off x="457200" y="2711196"/>
            <a:ext cx="3639312" cy="1170432"/>
          </a:xfrm>
          <a:prstGeom prst="roundRect">
            <a:avLst>
              <a:gd name="adj" fmla="val 5469"/>
            </a:avLst>
          </a:prstGeom>
          <a:solidFill>
            <a:srgbClr val="F3F7F5"/>
          </a:solidFill>
        </p:spPr>
      </p:sp>
      <p:sp>
        <p:nvSpPr>
          <p:cNvPr id="1048745" name="Shape 21"/>
          <p:cNvSpPr/>
          <p:nvPr/>
        </p:nvSpPr>
        <p:spPr>
          <a:xfrm>
            <a:off x="603504" y="2857500"/>
            <a:ext cx="310896" cy="310896"/>
          </a:xfrm>
          <a:prstGeom prst="ellipse"/>
          <a:solidFill>
            <a:srgbClr val="1C7293"/>
          </a:solidFill>
        </p:spPr>
      </p:sp>
      <p:sp>
        <p:nvSpPr>
          <p:cNvPr id="1048746" name="Text 22"/>
          <p:cNvSpPr/>
          <p:nvPr/>
        </p:nvSpPr>
        <p:spPr>
          <a:xfrm>
            <a:off x="603504" y="2857500"/>
            <a:ext cx="310896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100" lang="en-US"/>
          </a:p>
        </p:txBody>
      </p:sp>
      <p:sp>
        <p:nvSpPr>
          <p:cNvPr id="1048747" name="Text 23"/>
          <p:cNvSpPr/>
          <p:nvPr/>
        </p:nvSpPr>
        <p:spPr>
          <a:xfrm>
            <a:off x="1024128" y="2820924"/>
            <a:ext cx="292608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5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dirty="0" sz="1250" lang="en-US"/>
          </a:p>
        </p:txBody>
      </p:sp>
      <p:sp>
        <p:nvSpPr>
          <p:cNvPr id="1048748" name="Text 24"/>
          <p:cNvSpPr/>
          <p:nvPr/>
        </p:nvSpPr>
        <p:spPr>
          <a:xfrm>
            <a:off x="1024128" y="3076956"/>
            <a:ext cx="292608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Isolation Forest</a:t>
            </a:r>
            <a:endParaRPr dirty="0" sz="1100" lang="en-US"/>
          </a:p>
        </p:txBody>
      </p:sp>
      <p:sp>
        <p:nvSpPr>
          <p:cNvPr id="1048749" name="Text 25"/>
          <p:cNvSpPr/>
          <p:nvPr/>
        </p:nvSpPr>
        <p:spPr>
          <a:xfrm>
            <a:off x="603504" y="3369564"/>
            <a:ext cx="3346704" cy="4572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93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labeled incident data; efficient on tabular sensor readings</a:t>
            </a:r>
            <a:endParaRPr dirty="0" sz="930" lang="en-US"/>
          </a:p>
        </p:txBody>
      </p:sp>
      <p:sp>
        <p:nvSpPr>
          <p:cNvPr id="1048750" name="Shape 26"/>
          <p:cNvSpPr/>
          <p:nvPr/>
        </p:nvSpPr>
        <p:spPr>
          <a:xfrm>
            <a:off x="4219956" y="2711196"/>
            <a:ext cx="3639312" cy="1170432"/>
          </a:xfrm>
          <a:prstGeom prst="roundRect">
            <a:avLst>
              <a:gd name="adj" fmla="val 5469"/>
            </a:avLst>
          </a:prstGeom>
          <a:solidFill>
            <a:srgbClr val="F3F7F5"/>
          </a:solidFill>
        </p:spPr>
      </p:sp>
      <p:sp>
        <p:nvSpPr>
          <p:cNvPr id="1048751" name="Shape 27"/>
          <p:cNvSpPr/>
          <p:nvPr/>
        </p:nvSpPr>
        <p:spPr>
          <a:xfrm>
            <a:off x="4366260" y="2857500"/>
            <a:ext cx="310896" cy="310896"/>
          </a:xfrm>
          <a:prstGeom prst="ellipse"/>
          <a:solidFill>
            <a:srgbClr val="1C7293"/>
          </a:solidFill>
        </p:spPr>
      </p:sp>
      <p:sp>
        <p:nvSpPr>
          <p:cNvPr id="1048752" name="Text 28"/>
          <p:cNvSpPr/>
          <p:nvPr/>
        </p:nvSpPr>
        <p:spPr>
          <a:xfrm>
            <a:off x="4366260" y="2857500"/>
            <a:ext cx="310896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1100" lang="en-US"/>
          </a:p>
        </p:txBody>
      </p:sp>
      <p:sp>
        <p:nvSpPr>
          <p:cNvPr id="1048753" name="Text 29"/>
          <p:cNvSpPr/>
          <p:nvPr/>
        </p:nvSpPr>
        <p:spPr>
          <a:xfrm>
            <a:off x="4786884" y="2820924"/>
            <a:ext cx="292608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5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dirty="0" sz="1250" lang="en-US"/>
          </a:p>
        </p:txBody>
      </p:sp>
      <p:sp>
        <p:nvSpPr>
          <p:cNvPr id="1048754" name="Text 30"/>
          <p:cNvSpPr/>
          <p:nvPr/>
        </p:nvSpPr>
        <p:spPr>
          <a:xfrm>
            <a:off x="4786884" y="3076956"/>
            <a:ext cx="292608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web dashboard</a:t>
            </a:r>
            <a:endParaRPr dirty="0" sz="1100" lang="en-US"/>
          </a:p>
        </p:txBody>
      </p:sp>
      <p:sp>
        <p:nvSpPr>
          <p:cNvPr id="1048755" name="Text 31"/>
          <p:cNvSpPr/>
          <p:nvPr/>
        </p:nvSpPr>
        <p:spPr>
          <a:xfrm>
            <a:off x="4366260" y="3369564"/>
            <a:ext cx="3346704" cy="4572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93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existing SCSMS dashboard with a water-risk card</a:t>
            </a:r>
            <a:endParaRPr dirty="0" sz="930" lang="en-US"/>
          </a:p>
        </p:txBody>
      </p:sp>
      <p:sp>
        <p:nvSpPr>
          <p:cNvPr id="1048756" name="Shape 32"/>
          <p:cNvSpPr/>
          <p:nvPr/>
        </p:nvSpPr>
        <p:spPr>
          <a:xfrm>
            <a:off x="7982712" y="2711196"/>
            <a:ext cx="3639312" cy="1170432"/>
          </a:xfrm>
          <a:prstGeom prst="roundRect">
            <a:avLst>
              <a:gd name="adj" fmla="val 5469"/>
            </a:avLst>
          </a:prstGeom>
          <a:solidFill>
            <a:srgbClr val="F3F7F5"/>
          </a:solidFill>
        </p:spPr>
      </p:sp>
      <p:sp>
        <p:nvSpPr>
          <p:cNvPr id="1048757" name="Shape 33"/>
          <p:cNvSpPr/>
          <p:nvPr/>
        </p:nvSpPr>
        <p:spPr>
          <a:xfrm>
            <a:off x="8129016" y="2857500"/>
            <a:ext cx="310896" cy="310896"/>
          </a:xfrm>
          <a:prstGeom prst="ellipse"/>
          <a:solidFill>
            <a:srgbClr val="1C7293"/>
          </a:solidFill>
        </p:spPr>
      </p:sp>
      <p:sp>
        <p:nvSpPr>
          <p:cNvPr id="1048758" name="Text 34"/>
          <p:cNvSpPr/>
          <p:nvPr/>
        </p:nvSpPr>
        <p:spPr>
          <a:xfrm>
            <a:off x="8129016" y="2857500"/>
            <a:ext cx="310896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1100" lang="en-US"/>
          </a:p>
        </p:txBody>
      </p:sp>
      <p:sp>
        <p:nvSpPr>
          <p:cNvPr id="1048759" name="Text 35"/>
          <p:cNvSpPr/>
          <p:nvPr/>
        </p:nvSpPr>
        <p:spPr>
          <a:xfrm>
            <a:off x="8549640" y="2820924"/>
            <a:ext cx="292608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50" lang="en-US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dirty="0" sz="1250" lang="en-US"/>
          </a:p>
        </p:txBody>
      </p:sp>
      <p:sp>
        <p:nvSpPr>
          <p:cNvPr id="1048760" name="Text 36"/>
          <p:cNvSpPr/>
          <p:nvPr/>
        </p:nvSpPr>
        <p:spPr>
          <a:xfrm>
            <a:off x="8549640" y="3076956"/>
            <a:ext cx="292608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Telegram notification</a:t>
            </a:r>
            <a:endParaRPr dirty="0" sz="1100" lang="en-US"/>
          </a:p>
        </p:txBody>
      </p:sp>
      <p:sp>
        <p:nvSpPr>
          <p:cNvPr id="1048761" name="Text 37"/>
          <p:cNvSpPr/>
          <p:nvPr/>
        </p:nvSpPr>
        <p:spPr>
          <a:xfrm>
            <a:off x="8129016" y="3369564"/>
            <a:ext cx="3346704" cy="4572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930" lang="en-US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directly into SCSMS's existing Alerts &amp; Work Orders module</a:t>
            </a:r>
            <a:endParaRPr dirty="0" sz="930" lang="en-US"/>
          </a:p>
        </p:txBody>
      </p:sp>
      <p:sp>
        <p:nvSpPr>
          <p:cNvPr id="1048762" name="Shape 38"/>
          <p:cNvSpPr/>
          <p:nvPr/>
        </p:nvSpPr>
        <p:spPr>
          <a:xfrm>
            <a:off x="457200" y="41605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7F5EE"/>
          </a:solidFill>
        </p:spPr>
      </p:sp>
      <p:sp>
        <p:nvSpPr>
          <p:cNvPr id="1048763" name="Text 39"/>
          <p:cNvSpPr/>
          <p:nvPr/>
        </p:nvSpPr>
        <p:spPr>
          <a:xfrm>
            <a:off x="685800" y="4288536"/>
            <a:ext cx="49377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</a:t>
            </a:r>
            <a:endParaRPr dirty="0" sz="1500" lang="en-US"/>
          </a:p>
        </p:txBody>
      </p:sp>
      <p:sp>
        <p:nvSpPr>
          <p:cNvPr id="1048764" name="Text 40"/>
          <p:cNvSpPr/>
          <p:nvPr/>
        </p:nvSpPr>
        <p:spPr>
          <a:xfrm>
            <a:off x="685800" y="4663440"/>
            <a:ext cx="4937760" cy="1417320"/>
          </a:xfrm>
          <a:prstGeom prst="rect"/>
          <a:noFill/>
        </p:spPr>
        <p:txBody>
          <a:bodyPr anchor="t" bIns="0" lIns="0" rIns="0" rtlCol="0" tIns="0" wrap="square"/>
          <a:p>
            <a:pPr indent="-342900" marL="342900">
              <a:spcAft>
                <a:spcPts val="400"/>
              </a:spcAft>
              <a:buSzPct val="100000"/>
              <a:buChar char="▪"/>
            </a:pPr>
            <a:r>
              <a:rPr dirty="0" sz="11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detection of abnormal water conditions</a:t>
            </a:r>
            <a:endParaRPr dirty="0" sz="1150" lang="en-US"/>
          </a:p>
          <a:p>
            <a:pPr indent="-342900" marL="342900">
              <a:spcAft>
                <a:spcPts val="400"/>
              </a:spcAft>
              <a:buSzPct val="100000"/>
              <a:buChar char="▪"/>
            </a:pPr>
            <a:r>
              <a:rPr dirty="0" sz="11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maintenance response than visual-only checks</a:t>
            </a:r>
            <a:endParaRPr dirty="0" sz="1150" lang="en-US"/>
          </a:p>
          <a:p>
            <a:pPr indent="-342900" marL="342900">
              <a:spcAft>
                <a:spcPts val="400"/>
              </a:spcAft>
              <a:buSzPct val="100000"/>
              <a:buChar char="▪"/>
            </a:pPr>
            <a:r>
              <a:rPr dirty="0" sz="11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monitoring effort</a:t>
            </a:r>
            <a:endParaRPr dirty="0" sz="1150" lang="en-US"/>
          </a:p>
          <a:p>
            <a:pPr indent="-342900" marL="342900">
              <a:spcAft>
                <a:spcPts val="400"/>
              </a:spcAft>
              <a:buSzPct val="100000"/>
              <a:buChar char="▪"/>
            </a:pPr>
            <a:r>
              <a:rPr dirty="0" sz="11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prioritization of maintenance work orders</a:t>
            </a:r>
            <a:endParaRPr dirty="0" sz="1150" lang="en-US"/>
          </a:p>
          <a:p>
            <a:pPr indent="-342900" marL="342900">
              <a:spcAft>
                <a:spcPts val="400"/>
              </a:spcAft>
              <a:buSzPct val="100000"/>
              <a:buChar char="▪"/>
            </a:pPr>
            <a:r>
              <a:rPr dirty="0" sz="11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environmental monitoring at the tank</a:t>
            </a:r>
            <a:endParaRPr dirty="0" sz="1150" lang="en-US"/>
          </a:p>
        </p:txBody>
      </p:sp>
      <p:sp>
        <p:nvSpPr>
          <p:cNvPr id="1048765" name="Shape 41"/>
          <p:cNvSpPr/>
          <p:nvPr/>
        </p:nvSpPr>
        <p:spPr>
          <a:xfrm>
            <a:off x="5943600" y="4160520"/>
            <a:ext cx="5788152" cy="1965960"/>
          </a:xfrm>
          <a:prstGeom prst="roundRect">
            <a:avLst>
              <a:gd name="adj" fmla="val 3721"/>
            </a:avLst>
          </a:prstGeom>
          <a:solidFill>
            <a:srgbClr val="F3F7F5"/>
          </a:solidFill>
        </p:spPr>
      </p:sp>
      <p:sp>
        <p:nvSpPr>
          <p:cNvPr id="1048766" name="Text 42"/>
          <p:cNvSpPr/>
          <p:nvPr/>
        </p:nvSpPr>
        <p:spPr>
          <a:xfrm>
            <a:off x="6172200" y="4288536"/>
            <a:ext cx="53949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KPIs</a:t>
            </a:r>
            <a:endParaRPr dirty="0" sz="1500" lang="en-US"/>
          </a:p>
        </p:txBody>
      </p:sp>
      <p:sp>
        <p:nvSpPr>
          <p:cNvPr id="1048767" name="Text 43"/>
          <p:cNvSpPr/>
          <p:nvPr/>
        </p:nvSpPr>
        <p:spPr>
          <a:xfrm>
            <a:off x="6172200" y="4663440"/>
            <a:ext cx="5394960" cy="1417320"/>
          </a:xfrm>
          <a:prstGeom prst="rect"/>
          <a:noFill/>
        </p:spPr>
        <p:txBody>
          <a:bodyPr anchor="t" bIns="0" lIns="0" rIns="0" rtlCol="0" tIns="0" wrap="square"/>
          <a:p>
            <a:pPr indent="-342900" marL="342900">
              <a:spcAft>
                <a:spcPts val="400"/>
              </a:spcAft>
              <a:buSzPct val="100000"/>
              <a:buChar char="▪"/>
            </a:pPr>
            <a:r>
              <a:rPr dirty="0" sz="11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response time (reading → alert generated)</a:t>
            </a:r>
            <a:endParaRPr dirty="0" sz="1150" lang="en-US"/>
          </a:p>
          <a:p>
            <a:pPr indent="-342900" marL="342900">
              <a:spcAft>
                <a:spcPts val="400"/>
              </a:spcAft>
              <a:buSzPct val="100000"/>
              <a:buChar char="▪"/>
            </a:pPr>
            <a:r>
              <a:rPr dirty="0" sz="11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water anomalies detected per month</a:t>
            </a:r>
            <a:endParaRPr dirty="0" sz="1150" lang="en-US"/>
          </a:p>
          <a:p>
            <a:pPr indent="-342900" marL="342900">
              <a:spcAft>
                <a:spcPts val="400"/>
              </a:spcAft>
              <a:buSzPct val="100000"/>
              <a:buChar char="▪"/>
            </a:pPr>
            <a:r>
              <a:rPr dirty="0" sz="11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response time to water alerts</a:t>
            </a:r>
            <a:endParaRPr dirty="0" sz="1150" lang="en-US"/>
          </a:p>
          <a:p>
            <a:pPr indent="-342900" marL="342900">
              <a:spcAft>
                <a:spcPts val="400"/>
              </a:spcAft>
              <a:buSzPct val="100000"/>
              <a:buChar char="▪"/>
            </a:pPr>
            <a:r>
              <a:rPr dirty="0" sz="11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water alerts resolved within SLA</a:t>
            </a:r>
            <a:endParaRPr dirty="0" sz="1150" lang="en-US"/>
          </a:p>
          <a:p>
            <a:pPr indent="-342900" marL="342900">
              <a:spcAft>
                <a:spcPts val="400"/>
              </a:spcAft>
              <a:buSzPct val="100000"/>
              <a:buChar char="▪"/>
            </a:pPr>
            <a:r>
              <a:rPr dirty="0" sz="1150" lang="en-US">
                <a:solidFill>
                  <a:srgbClr val="1F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Stagnation events &gt; 48h detected early (extends 3A's target: 0)</a:t>
            </a:r>
            <a:endParaRPr dirty="0" sz="115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PptxGenJS</cp:lastModifiedBy>
  <dcterms:created xsi:type="dcterms:W3CDTF">2026-08-09T18:13:11Z</dcterms:created>
  <dcterms:modified xsi:type="dcterms:W3CDTF">2026-08-10T16:26:23Z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53fdaee069f24ab28c5060fad21bfc06_23</vt:lpwstr>
  </property>
</Properties>
</file>
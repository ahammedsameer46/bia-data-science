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F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3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E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AIR QUALITY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Storytelling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2B  •  Exploratory Analysis of the Cleaned Global AQI Dataset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23,462 cities  •  12 variables  •  175+ countries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A3D5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429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23,462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Analyzed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2918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A3D54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3429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Overall AQI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32918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A3D54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429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+ Moderate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32918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A3D54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4290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Hazardous Cities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|  CURRENT AIR QUALITY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AQI Category Distribution</a:t>
            </a:r>
            <a:endParaRPr lang="en-US" sz="2000" dirty="0"/>
          </a:p>
        </p:txBody>
      </p:sp>
      <p:pic>
        <p:nvPicPr>
          <p:cNvPr id="5" name="Image 0" descr="/home/workdir/artifacts/chart1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539496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114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USG = Unhealthy for Sensitive Groups  |  Source: Cleaned dataset (n = 23,462)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15000" y="777240"/>
            <a:ext cx="3154680" cy="4023360"/>
          </a:xfrm>
          <a:prstGeom prst="roundRect">
            <a:avLst>
              <a:gd name="adj" fmla="val 2899"/>
            </a:avLst>
          </a:prstGeom>
          <a:solidFill>
            <a:srgbClr val="EEF3F7"/>
          </a:solidFill>
          <a:ln/>
        </p:spPr>
      </p:sp>
      <p:sp>
        <p:nvSpPr>
          <p:cNvPr id="8" name="Text 5"/>
          <p:cNvSpPr/>
          <p:nvPr/>
        </p:nvSpPr>
        <p:spPr>
          <a:xfrm>
            <a:off x="5897880" y="96012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280160"/>
            <a:ext cx="2788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81.7% of monitored cities (19,166) report Good or Moderate air quality. The remaining 18.3% (4,296 cities) experience Unhealthy-for-Sensitive-Groups or worse conditions.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256032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28803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minority of severely polluted cities imposes large public-health and economic costs. The 478 cities in Very Unhealthy or Hazardous categories are acute risk zones.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397764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4251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monitoring upgrades and emission controls first to the 18.3% already above Moderate.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|  COUNTRIES MOST AFFECTED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Countries by Average AQI</a:t>
            </a:r>
            <a:endParaRPr lang="en-US" sz="2000" dirty="0"/>
          </a:p>
        </p:txBody>
      </p:sp>
      <p:pic>
        <p:nvPicPr>
          <p:cNvPr id="5" name="Image 0" descr="/home/workdir/artifacts/chart2_count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77240"/>
            <a:ext cx="544068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2519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to countries with ≥10 city records for statistical reliability.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15000" y="777240"/>
            <a:ext cx="3154680" cy="4023360"/>
          </a:xfrm>
          <a:prstGeom prst="roundRect">
            <a:avLst>
              <a:gd name="adj" fmla="val 2899"/>
            </a:avLst>
          </a:prstGeom>
          <a:solidFill>
            <a:srgbClr val="EEF3F7"/>
          </a:solidFill>
          <a:ln/>
        </p:spPr>
      </p:sp>
      <p:sp>
        <p:nvSpPr>
          <p:cNvPr id="8" name="Text 5"/>
          <p:cNvSpPr/>
          <p:nvPr/>
        </p:nvSpPr>
        <p:spPr>
          <a:xfrm>
            <a:off x="5897880" y="96012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280160"/>
            <a:ext cx="2788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(avg 178.8, n=307) and India (avg 153.0, n=2,488) show the highest average AQI among countries with substantial coverage. South Asia and parts of West Africa / Middle East dominate.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265176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2971800"/>
            <a:ext cx="2788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nations contain large urban populations. Elevated averages indicate systemic exposure risk — amplifying health and productivity losses.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4023360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429768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clean-air finance and regional policy cooperation toward South Asia and high-burden African/Middle-Eastern nations.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|  MAJOR CONTRIBUTOR TO POOR AQI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AQI vs Overall AQI — Near-Perfect Correlation</a:t>
            </a:r>
            <a:endParaRPr lang="en-US" sz="1800" dirty="0"/>
          </a:p>
        </p:txBody>
      </p:sp>
      <p:pic>
        <p:nvPicPr>
          <p:cNvPr id="5" name="Image 0" descr="/home/workdir/artifacts/scatter_pm25_aq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539496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1148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of 4,000 cities shown for clarity; r computed on full n = 23,462.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15000" y="777240"/>
            <a:ext cx="3154680" cy="4023360"/>
          </a:xfrm>
          <a:prstGeom prst="roundRect">
            <a:avLst>
              <a:gd name="adj" fmla="val 2899"/>
            </a:avLst>
          </a:prstGeom>
          <a:solidFill>
            <a:srgbClr val="EEF3F7"/>
          </a:solidFill>
          <a:ln/>
        </p:spPr>
      </p:sp>
      <p:sp>
        <p:nvSpPr>
          <p:cNvPr id="8" name="Text 5"/>
          <p:cNvSpPr/>
          <p:nvPr/>
        </p:nvSpPr>
        <p:spPr>
          <a:xfrm>
            <a:off x="5897880" y="96012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1887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0.984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897880" y="1600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≈ 0.97 — PM2.5 explains ~97% of variation in overall AQI.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97880" y="219456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24688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 particulate matter (PM2.5) is the dominant driver of the composite AQI score. Other pollutants (CO, NO₂, Ozone) contribute far less on average.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342900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370332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Interventions that lower PM2.5 will move overall AQI almost one-for-one.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7880" y="4160520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43891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PM2.5 source controls for maximum AQI improvement.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4F6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|  SYNTHESIS &amp;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Findings &amp;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81.7% of cities are Good or Moderate; 18.3% face unhealthy or worse air quality.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9875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325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 &amp; India lead among large-sample countries; South Asia is the critical region.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0D4F6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960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9875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Driver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3258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PM2.5 correlates with overall AQI at r = 0.984 — the primary lever for improvement.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2860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POLICY 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274320" cy="274320"/>
          </a:xfrm>
          <a:prstGeom prst="ellipse">
            <a:avLst/>
          </a:prstGeom>
          <a:solidFill>
            <a:srgbClr val="E07A3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7157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6517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PM2.5 Reduction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90779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industrial filtration, cleaner fuels, and dust-control measures — the highest-leverage action for overall AQI improvement.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355848"/>
            <a:ext cx="274320" cy="274320"/>
          </a:xfrm>
          <a:prstGeom prst="ellipse">
            <a:avLst/>
          </a:prstGeom>
          <a:solidFill>
            <a:srgbClr val="E07A3D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3741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33101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Geographic Resources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3566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monitoring upgrades and clean-air financing first to South Asia (Pakistan, India) and other high-burden nations identified above.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014216"/>
            <a:ext cx="274320" cy="274320"/>
          </a:xfrm>
          <a:prstGeom prst="ellipse">
            <a:avLst/>
          </a:prstGeom>
          <a:solidFill>
            <a:srgbClr val="E07A3D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0325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39684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Majority Base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422452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strong standards in the 81.7% of cities still in Good/Moderate categories to prevent deterioration as urbanization continues.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Air Quality Insights — Assignment 2B</dc:title>
  <dc:subject>Data Visualization &amp; Insight Storytelling</dc:subject>
  <dc:creator>Data Analytics Team</dc:creator>
  <cp:lastModifiedBy>Data Analytics Team</cp:lastModifiedBy>
  <cp:revision>1</cp:revision>
  <dcterms:created xsi:type="dcterms:W3CDTF">2026-07-31T15:07:37Z</dcterms:created>
  <dcterms:modified xsi:type="dcterms:W3CDTF">2026-07-31T15:07:37Z</dcterms:modified>
</cp:coreProperties>
</file>